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3" r:id="rId8"/>
    <p:sldId id="264" r:id="rId9"/>
    <p:sldId id="265" r:id="rId10"/>
    <p:sldId id="266" r:id="rId11"/>
  </p:sldIdLst>
  <p:sldSz cx="18288000" cy="10287000"/>
  <p:notesSz cx="6858000" cy="9144000"/>
  <p:embeddedFontLst>
    <p:embeddedFont>
      <p:font typeface="Atkinson Hyperlegible" panose="020B0604020202020204" charset="0"/>
      <p:regular r:id="rId12"/>
    </p:embeddedFont>
    <p:embeddedFont>
      <p:font typeface="Montserrat Bold" panose="00000800000000000000" pitchFamily="2" charset="0"/>
      <p:regular r:id="rId13"/>
      <p:bold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2DA2A8-6FB4-4194-B8F3-4FBF068AF7EA}" v="328" dt="2026-07-06T09:56:27.634"/>
    <p1510:client id="{A4F2A426-DED3-4448-A219-85DA43723BE0}" v="344" dt="2026-07-06T16:07:31.8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jpeg"/><Relationship Id="rId7"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057757" y="6621431"/>
            <a:ext cx="15447911" cy="48205"/>
            <a:chOff x="0" y="0"/>
            <a:chExt cx="19619581" cy="130092"/>
          </a:xfrm>
        </p:grpSpPr>
        <p:sp>
          <p:nvSpPr>
            <p:cNvPr id="4" name="Freeform 4"/>
            <p:cNvSpPr/>
            <p:nvPr/>
          </p:nvSpPr>
          <p:spPr>
            <a:xfrm>
              <a:off x="44323" y="0"/>
              <a:ext cx="19530949" cy="130048"/>
            </a:xfrm>
            <a:custGeom>
              <a:avLst/>
              <a:gdLst/>
              <a:ahLst/>
              <a:cxnLst/>
              <a:rect l="l" t="t" r="r" b="b"/>
              <a:pathLst>
                <a:path w="19530949" h="130048">
                  <a:moveTo>
                    <a:pt x="254" y="0"/>
                  </a:moveTo>
                  <a:lnTo>
                    <a:pt x="19530949" y="41148"/>
                  </a:lnTo>
                  <a:lnTo>
                    <a:pt x="19530822" y="130048"/>
                  </a:lnTo>
                  <a:lnTo>
                    <a:pt x="0" y="88900"/>
                  </a:lnTo>
                  <a:close/>
                </a:path>
              </a:pathLst>
            </a:custGeom>
            <a:solidFill>
              <a:srgbClr val="2254C5"/>
            </a:solidFill>
          </p:spPr>
        </p:sp>
      </p:grpSp>
      <p:grpSp>
        <p:nvGrpSpPr>
          <p:cNvPr id="5" name="Group 5"/>
          <p:cNvGrpSpPr/>
          <p:nvPr/>
        </p:nvGrpSpPr>
        <p:grpSpPr>
          <a:xfrm>
            <a:off x="493970" y="600845"/>
            <a:ext cx="1069460" cy="1069460"/>
            <a:chOff x="0" y="0"/>
            <a:chExt cx="1425947" cy="1425947"/>
          </a:xfrm>
        </p:grpSpPr>
        <p:sp>
          <p:nvSpPr>
            <p:cNvPr id="6" name="Freeform 6"/>
            <p:cNvSpPr/>
            <p:nvPr/>
          </p:nvSpPr>
          <p:spPr>
            <a:xfrm>
              <a:off x="0" y="0"/>
              <a:ext cx="1425956" cy="1425956"/>
            </a:xfrm>
            <a:custGeom>
              <a:avLst/>
              <a:gdLst/>
              <a:ahLst/>
              <a:cxnLst/>
              <a:rect l="l" t="t" r="r" b="b"/>
              <a:pathLst>
                <a:path w="1425956" h="1425956">
                  <a:moveTo>
                    <a:pt x="0" y="0"/>
                  </a:moveTo>
                  <a:lnTo>
                    <a:pt x="1425956" y="0"/>
                  </a:lnTo>
                  <a:lnTo>
                    <a:pt x="1425956" y="1425956"/>
                  </a:lnTo>
                  <a:lnTo>
                    <a:pt x="0" y="1425956"/>
                  </a:lnTo>
                  <a:lnTo>
                    <a:pt x="0" y="0"/>
                  </a:lnTo>
                  <a:close/>
                </a:path>
              </a:pathLst>
            </a:custGeom>
            <a:blipFill>
              <a:blip r:embed="rId3"/>
              <a:stretch>
                <a:fillRect/>
              </a:stretch>
            </a:blipFill>
          </p:spPr>
        </p:sp>
      </p:grpSp>
      <p:grpSp>
        <p:nvGrpSpPr>
          <p:cNvPr id="7" name="Group 7"/>
          <p:cNvGrpSpPr/>
          <p:nvPr/>
        </p:nvGrpSpPr>
        <p:grpSpPr>
          <a:xfrm>
            <a:off x="1563430" y="600845"/>
            <a:ext cx="2364767" cy="1069460"/>
            <a:chOff x="0" y="0"/>
            <a:chExt cx="3153023" cy="1425947"/>
          </a:xfrm>
        </p:grpSpPr>
        <p:sp>
          <p:nvSpPr>
            <p:cNvPr id="8" name="Freeform 8"/>
            <p:cNvSpPr/>
            <p:nvPr/>
          </p:nvSpPr>
          <p:spPr>
            <a:xfrm>
              <a:off x="0" y="0"/>
              <a:ext cx="3153029" cy="1425956"/>
            </a:xfrm>
            <a:custGeom>
              <a:avLst/>
              <a:gdLst/>
              <a:ahLst/>
              <a:cxnLst/>
              <a:rect l="l" t="t" r="r" b="b"/>
              <a:pathLst>
                <a:path w="3153029" h="1425956">
                  <a:moveTo>
                    <a:pt x="0" y="0"/>
                  </a:moveTo>
                  <a:lnTo>
                    <a:pt x="3153029" y="0"/>
                  </a:lnTo>
                  <a:lnTo>
                    <a:pt x="3153029" y="1425956"/>
                  </a:lnTo>
                  <a:lnTo>
                    <a:pt x="0" y="1425956"/>
                  </a:lnTo>
                  <a:lnTo>
                    <a:pt x="0" y="0"/>
                  </a:lnTo>
                  <a:close/>
                </a:path>
              </a:pathLst>
            </a:custGeom>
            <a:blipFill>
              <a:blip r:embed="rId4"/>
              <a:stretch>
                <a:fillRect t="-60558" b="-60557"/>
              </a:stretch>
            </a:blipFill>
          </p:spPr>
        </p:sp>
      </p:grpSp>
      <p:sp>
        <p:nvSpPr>
          <p:cNvPr id="9" name="TextBox 9"/>
          <p:cNvSpPr txBox="1"/>
          <p:nvPr/>
        </p:nvSpPr>
        <p:spPr>
          <a:xfrm>
            <a:off x="1030728" y="2931440"/>
            <a:ext cx="17747415" cy="1902700"/>
          </a:xfrm>
          <a:prstGeom prst="rect">
            <a:avLst/>
          </a:prstGeom>
        </p:spPr>
        <p:txBody>
          <a:bodyPr wrap="square" lIns="0" tIns="0" rIns="0" bIns="0" rtlCol="0" anchor="t">
            <a:spAutoFit/>
          </a:bodyPr>
          <a:lstStyle/>
          <a:p>
            <a:pPr>
              <a:lnSpc>
                <a:spcPts val="17669"/>
              </a:lnSpc>
            </a:pPr>
            <a:r>
              <a:rPr lang="en-US" sz="6000" b="1">
                <a:solidFill>
                  <a:srgbClr val="2254C5"/>
                </a:solidFill>
                <a:latin typeface="Calibri"/>
                <a:ea typeface="Calibri"/>
                <a:cs typeface="Calibri"/>
                <a:sym typeface="Montserrat Bold"/>
              </a:rPr>
              <a:t>BRIDGE-AI</a:t>
            </a:r>
            <a:r>
              <a:rPr lang="en-US" sz="6000" b="1">
                <a:solidFill>
                  <a:srgbClr val="2254C5"/>
                </a:solidFill>
                <a:ea typeface="+mn-lt"/>
                <a:cs typeface="+mn-lt"/>
                <a:sym typeface="Montserrat Bold"/>
              </a:rPr>
              <a:t> Kenya - Smart Mushroom Farming</a:t>
            </a:r>
            <a:endParaRPr lang="en-US" sz="6000" b="1">
              <a:solidFill>
                <a:srgbClr val="2254C5"/>
              </a:solidFill>
              <a:ea typeface="+mn-lt"/>
              <a:cs typeface="+mn-lt"/>
            </a:endParaRPr>
          </a:p>
        </p:txBody>
      </p:sp>
      <p:sp>
        <p:nvSpPr>
          <p:cNvPr id="10" name="TextBox 10"/>
          <p:cNvSpPr txBox="1"/>
          <p:nvPr/>
        </p:nvSpPr>
        <p:spPr>
          <a:xfrm>
            <a:off x="1045562" y="5978382"/>
            <a:ext cx="16179413" cy="658706"/>
          </a:xfrm>
          <a:prstGeom prst="rect">
            <a:avLst/>
          </a:prstGeom>
        </p:spPr>
        <p:txBody>
          <a:bodyPr wrap="square" lIns="0" tIns="0" rIns="0" bIns="0" rtlCol="0" anchor="t">
            <a:spAutoFit/>
          </a:bodyPr>
          <a:lstStyle/>
          <a:p>
            <a:pPr>
              <a:lnSpc>
                <a:spcPts val="5274"/>
              </a:lnSpc>
            </a:pPr>
            <a:r>
              <a:rPr lang="en-US" sz="4400">
                <a:solidFill>
                  <a:srgbClr val="151310"/>
                </a:solidFill>
                <a:ea typeface="+mn-lt"/>
                <a:cs typeface="+mn-lt"/>
                <a:sym typeface="Montserrat Bold"/>
              </a:rPr>
              <a:t>Building Resilient Development with Generative AI in Agriculture</a:t>
            </a:r>
            <a:endParaRPr lang="en-US" sz="4400" b="1">
              <a:solidFill>
                <a:srgbClr val="151310"/>
              </a:solidFill>
              <a:ea typeface="+mn-lt"/>
              <a:cs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028700" y="1862634"/>
            <a:ext cx="5018679" cy="7620676"/>
            <a:chOff x="0" y="0"/>
            <a:chExt cx="7445997" cy="11306467"/>
          </a:xfrm>
        </p:grpSpPr>
        <p:sp>
          <p:nvSpPr>
            <p:cNvPr id="4" name="Freeform 4"/>
            <p:cNvSpPr/>
            <p:nvPr/>
          </p:nvSpPr>
          <p:spPr>
            <a:xfrm>
              <a:off x="0" y="0"/>
              <a:ext cx="7446010" cy="11306429"/>
            </a:xfrm>
            <a:custGeom>
              <a:avLst/>
              <a:gdLst/>
              <a:ahLst/>
              <a:cxnLst/>
              <a:rect l="l" t="t" r="r" b="b"/>
              <a:pathLst>
                <a:path w="7446010" h="11306429">
                  <a:moveTo>
                    <a:pt x="0" y="0"/>
                  </a:moveTo>
                  <a:lnTo>
                    <a:pt x="7446010" y="0"/>
                  </a:lnTo>
                  <a:lnTo>
                    <a:pt x="7446010" y="11306429"/>
                  </a:lnTo>
                  <a:lnTo>
                    <a:pt x="0" y="11306429"/>
                  </a:lnTo>
                  <a:lnTo>
                    <a:pt x="0" y="0"/>
                  </a:lnTo>
                  <a:close/>
                </a:path>
              </a:pathLst>
            </a:custGeom>
            <a:blipFill>
              <a:blip r:embed="rId3"/>
              <a:stretch>
                <a:fillRect l="-6955" r="-6955"/>
              </a:stretch>
            </a:blipFill>
          </p:spPr>
        </p:sp>
      </p:grpSp>
      <p:grpSp>
        <p:nvGrpSpPr>
          <p:cNvPr id="5" name="Group 5"/>
          <p:cNvGrpSpPr/>
          <p:nvPr/>
        </p:nvGrpSpPr>
        <p:grpSpPr>
          <a:xfrm>
            <a:off x="3249918" y="3904449"/>
            <a:ext cx="425969" cy="362969"/>
            <a:chOff x="0" y="0"/>
            <a:chExt cx="567959" cy="483959"/>
          </a:xfrm>
        </p:grpSpPr>
        <p:sp>
          <p:nvSpPr>
            <p:cNvPr id="6" name="Freeform 6"/>
            <p:cNvSpPr/>
            <p:nvPr/>
          </p:nvSpPr>
          <p:spPr>
            <a:xfrm>
              <a:off x="0" y="0"/>
              <a:ext cx="567944" cy="483997"/>
            </a:xfrm>
            <a:custGeom>
              <a:avLst/>
              <a:gdLst/>
              <a:ahLst/>
              <a:cxnLst/>
              <a:rect l="l" t="t" r="r" b="b"/>
              <a:pathLst>
                <a:path w="567944" h="483997">
                  <a:moveTo>
                    <a:pt x="0" y="0"/>
                  </a:moveTo>
                  <a:lnTo>
                    <a:pt x="567944" y="0"/>
                  </a:lnTo>
                  <a:lnTo>
                    <a:pt x="567944" y="483997"/>
                  </a:lnTo>
                  <a:lnTo>
                    <a:pt x="0" y="483997"/>
                  </a:lnTo>
                  <a:lnTo>
                    <a:pt x="0" y="0"/>
                  </a:lnTo>
                  <a:close/>
                </a:path>
              </a:pathLst>
            </a:custGeom>
            <a:blipFill>
              <a:blip r:embed="rId4"/>
              <a:stretch>
                <a:fillRect t="-6863" r="-2" b="-6855"/>
              </a:stretch>
            </a:blipFill>
          </p:spPr>
        </p:sp>
      </p:grpSp>
      <p:grpSp>
        <p:nvGrpSpPr>
          <p:cNvPr id="7" name="Group 7"/>
          <p:cNvGrpSpPr/>
          <p:nvPr/>
        </p:nvGrpSpPr>
        <p:grpSpPr>
          <a:xfrm>
            <a:off x="4172068" y="3957566"/>
            <a:ext cx="498370" cy="256736"/>
            <a:chOff x="0" y="0"/>
            <a:chExt cx="664494" cy="342315"/>
          </a:xfrm>
        </p:grpSpPr>
        <p:sp>
          <p:nvSpPr>
            <p:cNvPr id="8" name="Freeform 8"/>
            <p:cNvSpPr/>
            <p:nvPr/>
          </p:nvSpPr>
          <p:spPr>
            <a:xfrm>
              <a:off x="0" y="0"/>
              <a:ext cx="664464" cy="342265"/>
            </a:xfrm>
            <a:custGeom>
              <a:avLst/>
              <a:gdLst/>
              <a:ahLst/>
              <a:cxnLst/>
              <a:rect l="l" t="t" r="r" b="b"/>
              <a:pathLst>
                <a:path w="664464" h="342265">
                  <a:moveTo>
                    <a:pt x="0" y="0"/>
                  </a:moveTo>
                  <a:lnTo>
                    <a:pt x="664464" y="0"/>
                  </a:lnTo>
                  <a:lnTo>
                    <a:pt x="664464" y="342265"/>
                  </a:lnTo>
                  <a:lnTo>
                    <a:pt x="0" y="342265"/>
                  </a:lnTo>
                  <a:lnTo>
                    <a:pt x="0" y="0"/>
                  </a:lnTo>
                  <a:close/>
                </a:path>
              </a:pathLst>
            </a:custGeom>
            <a:blipFill>
              <a:blip r:embed="rId5"/>
              <a:stretch>
                <a:fillRect t="-47065" r="-4" b="-47080"/>
              </a:stretch>
            </a:blipFill>
          </p:spPr>
        </p:sp>
      </p:grpSp>
      <p:sp>
        <p:nvSpPr>
          <p:cNvPr id="9" name="TextBox 9"/>
          <p:cNvSpPr txBox="1"/>
          <p:nvPr/>
        </p:nvSpPr>
        <p:spPr>
          <a:xfrm>
            <a:off x="6995474" y="3910766"/>
            <a:ext cx="10980501" cy="4116654"/>
          </a:xfrm>
          <a:prstGeom prst="rect">
            <a:avLst/>
          </a:prstGeom>
        </p:spPr>
        <p:txBody>
          <a:bodyPr wrap="square" lIns="0" tIns="0" rIns="0" bIns="0" rtlCol="0" anchor="t">
            <a:spAutoFit/>
          </a:bodyPr>
          <a:lstStyle/>
          <a:p>
            <a:pPr>
              <a:lnSpc>
                <a:spcPts val="3643"/>
              </a:lnSpc>
            </a:pPr>
            <a:r>
              <a:rPr lang="en-US" sz="2600">
                <a:solidFill>
                  <a:srgbClr val="2254C5"/>
                </a:solidFill>
                <a:ea typeface="+mn-lt"/>
                <a:cs typeface="+mn-lt"/>
              </a:rPr>
              <a:t>BRIDGE-AI is a Horizon Europe Research and Innovation Action that integrates Generative AI-based solutions into agricultural optimization and digital skills acquisition across Kenya, Tunisia, and Nigeria. The Smart Mushroom Project at JKUAT, launched in April 2025, represents Kenya's flagship case study, combining IoT sensors, AI-powered monitoring, and biotechnology to create a scalable smart farming model for smallholder farmers. This initiative aims to improve rural livelihoods by enhancing mushroom cultivation through precision agriculture, while simultaneously building digital capacity among local communities.</a:t>
            </a:r>
            <a:br>
              <a:rPr lang="en-US" sz="2600" dirty="0">
                <a:solidFill>
                  <a:srgbClr val="2254C5"/>
                </a:solidFill>
                <a:ea typeface="+mn-lt"/>
                <a:cs typeface="+mn-lt"/>
              </a:rPr>
            </a:br>
            <a:endParaRPr lang="en-US" sz="2600" dirty="0">
              <a:solidFill>
                <a:srgbClr val="2254C5"/>
              </a:solidFill>
              <a:ea typeface="+mn-lt"/>
              <a:cs typeface="+mn-lt"/>
            </a:endParaRPr>
          </a:p>
        </p:txBody>
      </p:sp>
      <p:sp>
        <p:nvSpPr>
          <p:cNvPr id="10" name="TextBox 10"/>
          <p:cNvSpPr txBox="1"/>
          <p:nvPr/>
        </p:nvSpPr>
        <p:spPr>
          <a:xfrm>
            <a:off x="8444191" y="2178428"/>
            <a:ext cx="7657467" cy="1358518"/>
          </a:xfrm>
          <a:prstGeom prst="rect">
            <a:avLst/>
          </a:prstGeom>
        </p:spPr>
        <p:txBody>
          <a:bodyPr lIns="0" tIns="0" rIns="0" bIns="0" rtlCol="0" anchor="t">
            <a:spAutoFit/>
          </a:bodyPr>
          <a:lstStyle/>
          <a:p>
            <a:pPr algn="ctr">
              <a:lnSpc>
                <a:spcPts val="10600"/>
              </a:lnSpc>
            </a:pPr>
            <a:r>
              <a:rPr lang="en-US" sz="9050" b="1">
                <a:solidFill>
                  <a:srgbClr val="2254C5"/>
                </a:solidFill>
                <a:latin typeface="Montserrat Bold"/>
                <a:ea typeface="Montserrat Bold"/>
                <a:cs typeface="Montserrat Bold"/>
                <a:sym typeface="Montserrat Bold"/>
              </a:rPr>
              <a:t>About </a:t>
            </a:r>
            <a:endParaRPr lang="en-US" sz="9060" b="1">
              <a:solidFill>
                <a:srgbClr val="2254C5"/>
              </a:solidFill>
              <a:latin typeface="Montserrat Bold"/>
              <a:ea typeface="Montserrat Bold"/>
              <a:cs typeface="Montserrat Bold"/>
              <a:sym typeface="Montserrat Bold"/>
            </a:endParaRPr>
          </a:p>
        </p:txBody>
      </p:sp>
      <p:grpSp>
        <p:nvGrpSpPr>
          <p:cNvPr id="11" name="Group 11"/>
          <p:cNvGrpSpPr/>
          <p:nvPr/>
        </p:nvGrpSpPr>
        <p:grpSpPr>
          <a:xfrm>
            <a:off x="493970" y="600845"/>
            <a:ext cx="1069460" cy="1069460"/>
            <a:chOff x="0" y="0"/>
            <a:chExt cx="1425947" cy="1425947"/>
          </a:xfrm>
        </p:grpSpPr>
        <p:sp>
          <p:nvSpPr>
            <p:cNvPr id="12" name="Freeform 12"/>
            <p:cNvSpPr/>
            <p:nvPr/>
          </p:nvSpPr>
          <p:spPr>
            <a:xfrm>
              <a:off x="0" y="0"/>
              <a:ext cx="1425956" cy="1425956"/>
            </a:xfrm>
            <a:custGeom>
              <a:avLst/>
              <a:gdLst/>
              <a:ahLst/>
              <a:cxnLst/>
              <a:rect l="l" t="t" r="r" b="b"/>
              <a:pathLst>
                <a:path w="1425956" h="1425956">
                  <a:moveTo>
                    <a:pt x="0" y="0"/>
                  </a:moveTo>
                  <a:lnTo>
                    <a:pt x="1425956" y="0"/>
                  </a:lnTo>
                  <a:lnTo>
                    <a:pt x="1425956" y="1425956"/>
                  </a:lnTo>
                  <a:lnTo>
                    <a:pt x="0" y="1425956"/>
                  </a:lnTo>
                  <a:lnTo>
                    <a:pt x="0" y="0"/>
                  </a:lnTo>
                  <a:close/>
                </a:path>
              </a:pathLst>
            </a:custGeom>
            <a:blipFill>
              <a:blip r:embed="rId6"/>
              <a:stretch>
                <a:fillRect/>
              </a:stretch>
            </a:blipFill>
          </p:spPr>
        </p:sp>
      </p:grpSp>
      <p:grpSp>
        <p:nvGrpSpPr>
          <p:cNvPr id="13" name="Group 13"/>
          <p:cNvGrpSpPr/>
          <p:nvPr/>
        </p:nvGrpSpPr>
        <p:grpSpPr>
          <a:xfrm>
            <a:off x="1563430" y="600845"/>
            <a:ext cx="2364767" cy="1069460"/>
            <a:chOff x="0" y="0"/>
            <a:chExt cx="3153023" cy="1425947"/>
          </a:xfrm>
        </p:grpSpPr>
        <p:sp>
          <p:nvSpPr>
            <p:cNvPr id="14" name="Freeform 14"/>
            <p:cNvSpPr/>
            <p:nvPr/>
          </p:nvSpPr>
          <p:spPr>
            <a:xfrm>
              <a:off x="0" y="0"/>
              <a:ext cx="3153029" cy="1425956"/>
            </a:xfrm>
            <a:custGeom>
              <a:avLst/>
              <a:gdLst/>
              <a:ahLst/>
              <a:cxnLst/>
              <a:rect l="l" t="t" r="r" b="b"/>
              <a:pathLst>
                <a:path w="3153029" h="1425956">
                  <a:moveTo>
                    <a:pt x="0" y="0"/>
                  </a:moveTo>
                  <a:lnTo>
                    <a:pt x="3153029" y="0"/>
                  </a:lnTo>
                  <a:lnTo>
                    <a:pt x="3153029" y="1425956"/>
                  </a:lnTo>
                  <a:lnTo>
                    <a:pt x="0" y="1425956"/>
                  </a:lnTo>
                  <a:lnTo>
                    <a:pt x="0" y="0"/>
                  </a:lnTo>
                  <a:close/>
                </a:path>
              </a:pathLst>
            </a:custGeom>
            <a:blipFill>
              <a:blip r:embed="rId7"/>
              <a:stretch>
                <a:fillRect t="-60558" b="-60557"/>
              </a:stretch>
            </a:blipFill>
          </p:spPr>
        </p:sp>
      </p:grpSp>
      <p:grpSp>
        <p:nvGrpSpPr>
          <p:cNvPr id="15" name="Group 15"/>
          <p:cNvGrpSpPr/>
          <p:nvPr/>
        </p:nvGrpSpPr>
        <p:grpSpPr>
          <a:xfrm>
            <a:off x="11835774" y="619244"/>
            <a:ext cx="6466514" cy="28575"/>
            <a:chOff x="0" y="0"/>
            <a:chExt cx="8622019" cy="38100"/>
          </a:xfrm>
        </p:grpSpPr>
        <p:sp>
          <p:nvSpPr>
            <p:cNvPr id="16" name="Freeform 16"/>
            <p:cNvSpPr/>
            <p:nvPr/>
          </p:nvSpPr>
          <p:spPr>
            <a:xfrm>
              <a:off x="19050" y="0"/>
              <a:ext cx="8583930" cy="38100"/>
            </a:xfrm>
            <a:custGeom>
              <a:avLst/>
              <a:gdLst/>
              <a:ahLst/>
              <a:cxnLst/>
              <a:rect l="l" t="t" r="r" b="b"/>
              <a:pathLst>
                <a:path w="8583930" h="38100">
                  <a:moveTo>
                    <a:pt x="0" y="0"/>
                  </a:moveTo>
                  <a:lnTo>
                    <a:pt x="8583930" y="0"/>
                  </a:lnTo>
                  <a:lnTo>
                    <a:pt x="8583930" y="38100"/>
                  </a:lnTo>
                  <a:lnTo>
                    <a:pt x="0" y="38100"/>
                  </a:lnTo>
                  <a:close/>
                </a:path>
              </a:pathLst>
            </a:custGeom>
            <a:solidFill>
              <a:srgbClr val="2254C5"/>
            </a:solidFill>
          </p:spPr>
        </p:sp>
      </p:grpSp>
      <p:grpSp>
        <p:nvGrpSpPr>
          <p:cNvPr id="17" name="Group 17"/>
          <p:cNvGrpSpPr/>
          <p:nvPr/>
        </p:nvGrpSpPr>
        <p:grpSpPr>
          <a:xfrm>
            <a:off x="-72600" y="9972719"/>
            <a:ext cx="18433201" cy="38100"/>
            <a:chOff x="0" y="0"/>
            <a:chExt cx="24577601" cy="50800"/>
          </a:xfrm>
        </p:grpSpPr>
        <p:sp>
          <p:nvSpPr>
            <p:cNvPr id="18" name="Freeform 18"/>
            <p:cNvSpPr/>
            <p:nvPr/>
          </p:nvSpPr>
          <p:spPr>
            <a:xfrm>
              <a:off x="25400" y="0"/>
              <a:ext cx="24526748" cy="50800"/>
            </a:xfrm>
            <a:custGeom>
              <a:avLst/>
              <a:gdLst/>
              <a:ahLst/>
              <a:cxnLst/>
              <a:rect l="l" t="t" r="r" b="b"/>
              <a:pathLst>
                <a:path w="24526748" h="50800">
                  <a:moveTo>
                    <a:pt x="0" y="0"/>
                  </a:moveTo>
                  <a:lnTo>
                    <a:pt x="24526748" y="0"/>
                  </a:lnTo>
                  <a:lnTo>
                    <a:pt x="24526748" y="50800"/>
                  </a:lnTo>
                  <a:lnTo>
                    <a:pt x="0" y="50800"/>
                  </a:lnTo>
                  <a:close/>
                </a:path>
              </a:pathLst>
            </a:custGeom>
            <a:solidFill>
              <a:srgbClr val="2254C5"/>
            </a:solid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1835774" y="619244"/>
            <a:ext cx="6466514" cy="28575"/>
            <a:chOff x="0" y="0"/>
            <a:chExt cx="8622019" cy="38100"/>
          </a:xfrm>
        </p:grpSpPr>
        <p:sp>
          <p:nvSpPr>
            <p:cNvPr id="4" name="Freeform 4"/>
            <p:cNvSpPr/>
            <p:nvPr/>
          </p:nvSpPr>
          <p:spPr>
            <a:xfrm>
              <a:off x="19050" y="0"/>
              <a:ext cx="8583930" cy="38100"/>
            </a:xfrm>
            <a:custGeom>
              <a:avLst/>
              <a:gdLst/>
              <a:ahLst/>
              <a:cxnLst/>
              <a:rect l="l" t="t" r="r" b="b"/>
              <a:pathLst>
                <a:path w="8583930" h="38100">
                  <a:moveTo>
                    <a:pt x="0" y="0"/>
                  </a:moveTo>
                  <a:lnTo>
                    <a:pt x="8583930" y="0"/>
                  </a:lnTo>
                  <a:lnTo>
                    <a:pt x="8583930" y="38100"/>
                  </a:lnTo>
                  <a:lnTo>
                    <a:pt x="0" y="38100"/>
                  </a:lnTo>
                  <a:close/>
                </a:path>
              </a:pathLst>
            </a:custGeom>
            <a:solidFill>
              <a:srgbClr val="2254C5"/>
            </a:solidFill>
          </p:spPr>
        </p:sp>
      </p:grpSp>
      <p:sp>
        <p:nvSpPr>
          <p:cNvPr id="5" name="TextBox 5"/>
          <p:cNvSpPr txBox="1"/>
          <p:nvPr/>
        </p:nvSpPr>
        <p:spPr>
          <a:xfrm>
            <a:off x="1028700" y="3721048"/>
            <a:ext cx="4347830" cy="2325925"/>
          </a:xfrm>
          <a:prstGeom prst="rect">
            <a:avLst/>
          </a:prstGeom>
        </p:spPr>
        <p:txBody>
          <a:bodyPr lIns="0" tIns="0" rIns="0" bIns="0" rtlCol="0" anchor="t">
            <a:spAutoFit/>
          </a:bodyPr>
          <a:lstStyle/>
          <a:p>
            <a:pPr algn="l">
              <a:lnSpc>
                <a:spcPts val="9354"/>
              </a:lnSpc>
            </a:pPr>
            <a:r>
              <a:rPr lang="en-US" sz="6681" b="1">
                <a:solidFill>
                  <a:srgbClr val="2254C5"/>
                </a:solidFill>
                <a:latin typeface="Montserrat Bold"/>
                <a:ea typeface="Montserrat Bold"/>
                <a:cs typeface="Montserrat Bold"/>
                <a:sym typeface="Montserrat Bold"/>
              </a:rPr>
              <a:t>Mission &amp; Vision</a:t>
            </a:r>
          </a:p>
        </p:txBody>
      </p:sp>
      <p:grpSp>
        <p:nvGrpSpPr>
          <p:cNvPr id="6" name="Group 6"/>
          <p:cNvGrpSpPr/>
          <p:nvPr/>
        </p:nvGrpSpPr>
        <p:grpSpPr>
          <a:xfrm>
            <a:off x="7373451" y="2613884"/>
            <a:ext cx="9885849" cy="827016"/>
            <a:chOff x="0" y="0"/>
            <a:chExt cx="13181132" cy="1102688"/>
          </a:xfrm>
        </p:grpSpPr>
        <p:sp>
          <p:nvSpPr>
            <p:cNvPr id="7" name="Freeform 7"/>
            <p:cNvSpPr/>
            <p:nvPr/>
          </p:nvSpPr>
          <p:spPr>
            <a:xfrm>
              <a:off x="0" y="0"/>
              <a:ext cx="13181076" cy="1102741"/>
            </a:xfrm>
            <a:custGeom>
              <a:avLst/>
              <a:gdLst/>
              <a:ahLst/>
              <a:cxnLst/>
              <a:rect l="l" t="t" r="r" b="b"/>
              <a:pathLst>
                <a:path w="13181076" h="1102741">
                  <a:moveTo>
                    <a:pt x="0" y="0"/>
                  </a:moveTo>
                  <a:lnTo>
                    <a:pt x="13181076" y="0"/>
                  </a:lnTo>
                  <a:lnTo>
                    <a:pt x="13181076" y="1102741"/>
                  </a:lnTo>
                  <a:lnTo>
                    <a:pt x="0" y="1102741"/>
                  </a:lnTo>
                  <a:close/>
                </a:path>
              </a:pathLst>
            </a:custGeom>
            <a:solidFill>
              <a:srgbClr val="2254C5"/>
            </a:solidFill>
          </p:spPr>
        </p:sp>
      </p:grpSp>
      <p:grpSp>
        <p:nvGrpSpPr>
          <p:cNvPr id="8" name="Group 8"/>
          <p:cNvGrpSpPr/>
          <p:nvPr/>
        </p:nvGrpSpPr>
        <p:grpSpPr>
          <a:xfrm>
            <a:off x="7373451" y="6164803"/>
            <a:ext cx="9885849" cy="827016"/>
            <a:chOff x="0" y="0"/>
            <a:chExt cx="13181132" cy="1102688"/>
          </a:xfrm>
        </p:grpSpPr>
        <p:sp>
          <p:nvSpPr>
            <p:cNvPr id="9" name="Freeform 9"/>
            <p:cNvSpPr/>
            <p:nvPr/>
          </p:nvSpPr>
          <p:spPr>
            <a:xfrm>
              <a:off x="0" y="0"/>
              <a:ext cx="13181076" cy="1102741"/>
            </a:xfrm>
            <a:custGeom>
              <a:avLst/>
              <a:gdLst/>
              <a:ahLst/>
              <a:cxnLst/>
              <a:rect l="l" t="t" r="r" b="b"/>
              <a:pathLst>
                <a:path w="13181076" h="1102741">
                  <a:moveTo>
                    <a:pt x="0" y="0"/>
                  </a:moveTo>
                  <a:lnTo>
                    <a:pt x="13181076" y="0"/>
                  </a:lnTo>
                  <a:lnTo>
                    <a:pt x="13181076" y="1102741"/>
                  </a:lnTo>
                  <a:lnTo>
                    <a:pt x="0" y="1102741"/>
                  </a:lnTo>
                  <a:close/>
                </a:path>
              </a:pathLst>
            </a:custGeom>
            <a:solidFill>
              <a:srgbClr val="2254C5"/>
            </a:solidFill>
          </p:spPr>
        </p:sp>
      </p:grpSp>
      <p:sp>
        <p:nvSpPr>
          <p:cNvPr id="10" name="TextBox 10"/>
          <p:cNvSpPr txBox="1"/>
          <p:nvPr/>
        </p:nvSpPr>
        <p:spPr>
          <a:xfrm>
            <a:off x="7373451" y="3816298"/>
            <a:ext cx="9885849" cy="1317284"/>
          </a:xfrm>
          <a:prstGeom prst="rect">
            <a:avLst/>
          </a:prstGeom>
        </p:spPr>
        <p:txBody>
          <a:bodyPr lIns="0" tIns="0" rIns="0" bIns="0" rtlCol="0" anchor="t">
            <a:spAutoFit/>
          </a:bodyPr>
          <a:lstStyle/>
          <a:p>
            <a:pPr>
              <a:lnSpc>
                <a:spcPts val="3497"/>
              </a:lnSpc>
            </a:pPr>
            <a:r>
              <a:rPr lang="en-US" sz="2450">
                <a:solidFill>
                  <a:srgbClr val="2254C5"/>
                </a:solidFill>
                <a:ea typeface="+mn-lt"/>
                <a:cs typeface="+mn-lt"/>
                <a:sym typeface="Atkinson Hyperlegible"/>
              </a:rPr>
              <a:t>To empower smallholder farmers with climate-smart, tech-enabled mushroom cultivation techniques that improve food security, protect forests, and create sustainable livelihoods. </a:t>
            </a:r>
            <a:endParaRPr lang="en-US">
              <a:ea typeface="+mn-lt"/>
              <a:cs typeface="+mn-lt"/>
            </a:endParaRPr>
          </a:p>
        </p:txBody>
      </p:sp>
      <p:sp>
        <p:nvSpPr>
          <p:cNvPr id="11" name="TextBox 11"/>
          <p:cNvSpPr txBox="1"/>
          <p:nvPr/>
        </p:nvSpPr>
        <p:spPr>
          <a:xfrm>
            <a:off x="7654338" y="2727416"/>
            <a:ext cx="8885250" cy="505967"/>
          </a:xfrm>
          <a:prstGeom prst="rect">
            <a:avLst/>
          </a:prstGeom>
        </p:spPr>
        <p:txBody>
          <a:bodyPr lIns="0" tIns="0" rIns="0" bIns="0" rtlCol="0" anchor="t">
            <a:spAutoFit/>
          </a:bodyPr>
          <a:lstStyle/>
          <a:p>
            <a:pPr algn="just">
              <a:lnSpc>
                <a:spcPts val="3611"/>
              </a:lnSpc>
            </a:pPr>
            <a:r>
              <a:rPr lang="en-US" sz="2579" b="1">
                <a:solidFill>
                  <a:srgbClr val="FFFFFF"/>
                </a:solidFill>
                <a:latin typeface="Montserrat Bold"/>
                <a:ea typeface="Montserrat Bold"/>
                <a:cs typeface="Montserrat Bold"/>
                <a:sym typeface="Montserrat Bold"/>
              </a:rPr>
              <a:t>Mission</a:t>
            </a:r>
          </a:p>
        </p:txBody>
      </p:sp>
      <p:sp>
        <p:nvSpPr>
          <p:cNvPr id="12" name="TextBox 12"/>
          <p:cNvSpPr txBox="1"/>
          <p:nvPr/>
        </p:nvSpPr>
        <p:spPr>
          <a:xfrm>
            <a:off x="7373451" y="7367216"/>
            <a:ext cx="9885849" cy="868443"/>
          </a:xfrm>
          <a:prstGeom prst="rect">
            <a:avLst/>
          </a:prstGeom>
        </p:spPr>
        <p:txBody>
          <a:bodyPr lIns="0" tIns="0" rIns="0" bIns="0" rtlCol="0" anchor="t">
            <a:spAutoFit/>
          </a:bodyPr>
          <a:lstStyle/>
          <a:p>
            <a:pPr>
              <a:lnSpc>
                <a:spcPts val="3497"/>
              </a:lnSpc>
            </a:pPr>
            <a:r>
              <a:rPr lang="en-US" sz="2450">
                <a:solidFill>
                  <a:srgbClr val="2254C5"/>
                </a:solidFill>
                <a:ea typeface="+mn-lt"/>
                <a:cs typeface="+mn-lt"/>
                <a:sym typeface="Atkinson Hyperlegible"/>
              </a:rPr>
              <a:t>A digitally skilled Africa where GenAI and smart agriculture drive rural resilience, economic empowerment, and environmental conservation.</a:t>
            </a:r>
            <a:endParaRPr lang="en-US">
              <a:ea typeface="+mn-lt"/>
              <a:cs typeface="+mn-lt"/>
            </a:endParaRPr>
          </a:p>
        </p:txBody>
      </p:sp>
      <p:sp>
        <p:nvSpPr>
          <p:cNvPr id="13" name="TextBox 13"/>
          <p:cNvSpPr txBox="1"/>
          <p:nvPr/>
        </p:nvSpPr>
        <p:spPr>
          <a:xfrm>
            <a:off x="7654338" y="6278335"/>
            <a:ext cx="8885250" cy="505967"/>
          </a:xfrm>
          <a:prstGeom prst="rect">
            <a:avLst/>
          </a:prstGeom>
        </p:spPr>
        <p:txBody>
          <a:bodyPr lIns="0" tIns="0" rIns="0" bIns="0" rtlCol="0" anchor="t">
            <a:spAutoFit/>
          </a:bodyPr>
          <a:lstStyle/>
          <a:p>
            <a:pPr algn="just">
              <a:lnSpc>
                <a:spcPts val="3611"/>
              </a:lnSpc>
            </a:pPr>
            <a:r>
              <a:rPr lang="en-US" sz="2579" b="1">
                <a:solidFill>
                  <a:srgbClr val="FFFFFF"/>
                </a:solidFill>
                <a:latin typeface="Montserrat Bold"/>
                <a:ea typeface="Montserrat Bold"/>
                <a:cs typeface="Montserrat Bold"/>
                <a:sym typeface="Montserrat Bold"/>
              </a:rPr>
              <a:t>Vision</a:t>
            </a:r>
          </a:p>
        </p:txBody>
      </p:sp>
      <p:sp>
        <p:nvSpPr>
          <p:cNvPr id="14" name="TextBox 14"/>
          <p:cNvSpPr txBox="1"/>
          <p:nvPr/>
        </p:nvSpPr>
        <p:spPr>
          <a:xfrm>
            <a:off x="11899229" y="8399033"/>
            <a:ext cx="3169802" cy="210820"/>
          </a:xfrm>
          <a:prstGeom prst="rect">
            <a:avLst/>
          </a:prstGeom>
        </p:spPr>
        <p:txBody>
          <a:bodyPr lIns="0" tIns="0" rIns="0" bIns="0" rtlCol="0" anchor="t">
            <a:spAutoFit/>
          </a:bodyPr>
          <a:lstStyle/>
          <a:p>
            <a:pPr algn="l">
              <a:lnSpc>
                <a:spcPts val="1679"/>
              </a:lnSpc>
            </a:pPr>
            <a:r>
              <a:rPr lang="en-US" sz="1200" b="1">
                <a:solidFill>
                  <a:srgbClr val="FFFFFF"/>
                </a:solidFill>
                <a:latin typeface="Montserrat Bold"/>
                <a:ea typeface="Montserrat Bold"/>
                <a:cs typeface="Montserrat Bold"/>
                <a:sym typeface="Montserrat Bold"/>
              </a:rPr>
              <a:t>Serviceable Available Market (SAM)</a:t>
            </a:r>
          </a:p>
        </p:txBody>
      </p:sp>
      <p:grpSp>
        <p:nvGrpSpPr>
          <p:cNvPr id="15" name="Group 15"/>
          <p:cNvGrpSpPr/>
          <p:nvPr/>
        </p:nvGrpSpPr>
        <p:grpSpPr>
          <a:xfrm>
            <a:off x="6625818" y="2269134"/>
            <a:ext cx="28575" cy="6466514"/>
            <a:chOff x="0" y="0"/>
            <a:chExt cx="38100" cy="8622019"/>
          </a:xfrm>
        </p:grpSpPr>
        <p:sp>
          <p:nvSpPr>
            <p:cNvPr id="16" name="Freeform 16"/>
            <p:cNvSpPr/>
            <p:nvPr/>
          </p:nvSpPr>
          <p:spPr>
            <a:xfrm>
              <a:off x="0" y="19050"/>
              <a:ext cx="38100" cy="8583930"/>
            </a:xfrm>
            <a:custGeom>
              <a:avLst/>
              <a:gdLst/>
              <a:ahLst/>
              <a:cxnLst/>
              <a:rect l="l" t="t" r="r" b="b"/>
              <a:pathLst>
                <a:path w="38100" h="8583930">
                  <a:moveTo>
                    <a:pt x="38100" y="0"/>
                  </a:moveTo>
                  <a:lnTo>
                    <a:pt x="38100" y="8583930"/>
                  </a:lnTo>
                  <a:lnTo>
                    <a:pt x="0" y="8583930"/>
                  </a:lnTo>
                  <a:lnTo>
                    <a:pt x="0" y="0"/>
                  </a:lnTo>
                  <a:close/>
                </a:path>
              </a:pathLst>
            </a:custGeom>
            <a:solidFill>
              <a:srgbClr val="2254C5"/>
            </a:solidFill>
          </p:spPr>
        </p:sp>
      </p:grpSp>
      <p:grpSp>
        <p:nvGrpSpPr>
          <p:cNvPr id="17" name="Group 17"/>
          <p:cNvGrpSpPr/>
          <p:nvPr/>
        </p:nvGrpSpPr>
        <p:grpSpPr>
          <a:xfrm>
            <a:off x="493970" y="600845"/>
            <a:ext cx="1069460" cy="1069460"/>
            <a:chOff x="0" y="0"/>
            <a:chExt cx="1425947" cy="1425947"/>
          </a:xfrm>
        </p:grpSpPr>
        <p:sp>
          <p:nvSpPr>
            <p:cNvPr id="18" name="Freeform 18"/>
            <p:cNvSpPr/>
            <p:nvPr/>
          </p:nvSpPr>
          <p:spPr>
            <a:xfrm>
              <a:off x="0" y="0"/>
              <a:ext cx="1425956" cy="1425956"/>
            </a:xfrm>
            <a:custGeom>
              <a:avLst/>
              <a:gdLst/>
              <a:ahLst/>
              <a:cxnLst/>
              <a:rect l="l" t="t" r="r" b="b"/>
              <a:pathLst>
                <a:path w="1425956" h="1425956">
                  <a:moveTo>
                    <a:pt x="0" y="0"/>
                  </a:moveTo>
                  <a:lnTo>
                    <a:pt x="1425956" y="0"/>
                  </a:lnTo>
                  <a:lnTo>
                    <a:pt x="1425956" y="1425956"/>
                  </a:lnTo>
                  <a:lnTo>
                    <a:pt x="0" y="1425956"/>
                  </a:lnTo>
                  <a:lnTo>
                    <a:pt x="0" y="0"/>
                  </a:lnTo>
                  <a:close/>
                </a:path>
              </a:pathLst>
            </a:custGeom>
            <a:blipFill>
              <a:blip r:embed="rId3"/>
              <a:stretch>
                <a:fillRect/>
              </a:stretch>
            </a:blipFill>
          </p:spPr>
        </p:sp>
      </p:grpSp>
      <p:grpSp>
        <p:nvGrpSpPr>
          <p:cNvPr id="19" name="Group 19"/>
          <p:cNvGrpSpPr/>
          <p:nvPr/>
        </p:nvGrpSpPr>
        <p:grpSpPr>
          <a:xfrm>
            <a:off x="1563430" y="600845"/>
            <a:ext cx="2364767" cy="1069460"/>
            <a:chOff x="0" y="0"/>
            <a:chExt cx="3153023" cy="1425947"/>
          </a:xfrm>
        </p:grpSpPr>
        <p:sp>
          <p:nvSpPr>
            <p:cNvPr id="20" name="Freeform 20"/>
            <p:cNvSpPr/>
            <p:nvPr/>
          </p:nvSpPr>
          <p:spPr>
            <a:xfrm>
              <a:off x="0" y="0"/>
              <a:ext cx="3153029" cy="1425956"/>
            </a:xfrm>
            <a:custGeom>
              <a:avLst/>
              <a:gdLst/>
              <a:ahLst/>
              <a:cxnLst/>
              <a:rect l="l" t="t" r="r" b="b"/>
              <a:pathLst>
                <a:path w="3153029" h="1425956">
                  <a:moveTo>
                    <a:pt x="0" y="0"/>
                  </a:moveTo>
                  <a:lnTo>
                    <a:pt x="3153029" y="0"/>
                  </a:lnTo>
                  <a:lnTo>
                    <a:pt x="3153029" y="1425956"/>
                  </a:lnTo>
                  <a:lnTo>
                    <a:pt x="0" y="1425956"/>
                  </a:lnTo>
                  <a:lnTo>
                    <a:pt x="0" y="0"/>
                  </a:lnTo>
                  <a:close/>
                </a:path>
              </a:pathLst>
            </a:custGeom>
            <a:blipFill>
              <a:blip r:embed="rId4"/>
              <a:stretch>
                <a:fillRect t="-60558" b="-60557"/>
              </a:stretch>
            </a:blipFill>
          </p:spPr>
        </p:sp>
      </p:grpSp>
      <p:grpSp>
        <p:nvGrpSpPr>
          <p:cNvPr id="21" name="Group 21"/>
          <p:cNvGrpSpPr/>
          <p:nvPr/>
        </p:nvGrpSpPr>
        <p:grpSpPr>
          <a:xfrm>
            <a:off x="-72600" y="9972719"/>
            <a:ext cx="18433201" cy="38100"/>
            <a:chOff x="0" y="0"/>
            <a:chExt cx="24577601" cy="50800"/>
          </a:xfrm>
        </p:grpSpPr>
        <p:sp>
          <p:nvSpPr>
            <p:cNvPr id="22" name="Freeform 22"/>
            <p:cNvSpPr/>
            <p:nvPr/>
          </p:nvSpPr>
          <p:spPr>
            <a:xfrm>
              <a:off x="25400" y="0"/>
              <a:ext cx="24526748" cy="50800"/>
            </a:xfrm>
            <a:custGeom>
              <a:avLst/>
              <a:gdLst/>
              <a:ahLst/>
              <a:cxnLst/>
              <a:rect l="l" t="t" r="r" b="b"/>
              <a:pathLst>
                <a:path w="24526748" h="50800">
                  <a:moveTo>
                    <a:pt x="0" y="0"/>
                  </a:moveTo>
                  <a:lnTo>
                    <a:pt x="24526748" y="0"/>
                  </a:lnTo>
                  <a:lnTo>
                    <a:pt x="24526748" y="50800"/>
                  </a:lnTo>
                  <a:lnTo>
                    <a:pt x="0" y="50800"/>
                  </a:lnTo>
                  <a:close/>
                </a:path>
              </a:pathLst>
            </a:custGeom>
            <a:solidFill>
              <a:srgbClr val="2254C5"/>
            </a:solid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1772" y="0"/>
            <a:ext cx="18385972"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1835774" y="619244"/>
            <a:ext cx="6466514" cy="28575"/>
            <a:chOff x="0" y="0"/>
            <a:chExt cx="8622019" cy="38100"/>
          </a:xfrm>
        </p:grpSpPr>
        <p:sp>
          <p:nvSpPr>
            <p:cNvPr id="4" name="Freeform 4"/>
            <p:cNvSpPr/>
            <p:nvPr/>
          </p:nvSpPr>
          <p:spPr>
            <a:xfrm>
              <a:off x="19050" y="0"/>
              <a:ext cx="8583930" cy="38100"/>
            </a:xfrm>
            <a:custGeom>
              <a:avLst/>
              <a:gdLst/>
              <a:ahLst/>
              <a:cxnLst/>
              <a:rect l="l" t="t" r="r" b="b"/>
              <a:pathLst>
                <a:path w="8583930" h="38100">
                  <a:moveTo>
                    <a:pt x="0" y="0"/>
                  </a:moveTo>
                  <a:lnTo>
                    <a:pt x="8583930" y="0"/>
                  </a:lnTo>
                  <a:lnTo>
                    <a:pt x="8583930" y="38100"/>
                  </a:lnTo>
                  <a:lnTo>
                    <a:pt x="0" y="38100"/>
                  </a:lnTo>
                  <a:close/>
                </a:path>
              </a:pathLst>
            </a:custGeom>
            <a:solidFill>
              <a:srgbClr val="2254C5"/>
            </a:solidFill>
          </p:spPr>
        </p:sp>
      </p:grpSp>
      <p:sp>
        <p:nvSpPr>
          <p:cNvPr id="5" name="TextBox 5"/>
          <p:cNvSpPr txBox="1"/>
          <p:nvPr/>
        </p:nvSpPr>
        <p:spPr>
          <a:xfrm>
            <a:off x="1791443" y="1671124"/>
            <a:ext cx="16582476" cy="1463093"/>
          </a:xfrm>
          <a:prstGeom prst="rect">
            <a:avLst/>
          </a:prstGeom>
        </p:spPr>
        <p:txBody>
          <a:bodyPr wrap="square" lIns="0" tIns="0" rIns="0" bIns="0" rtlCol="0" anchor="t">
            <a:spAutoFit/>
          </a:bodyPr>
          <a:lstStyle/>
          <a:p>
            <a:pPr>
              <a:lnSpc>
                <a:spcPts val="13103"/>
              </a:lnSpc>
            </a:pPr>
            <a:r>
              <a:rPr lang="en-US" sz="6000" b="1">
                <a:solidFill>
                  <a:srgbClr val="2254C5"/>
                </a:solidFill>
                <a:ea typeface="+mn-lt"/>
                <a:cs typeface="+mn-lt"/>
                <a:sym typeface="Montserrat Bold"/>
              </a:rPr>
              <a:t>BRIDGE-AI Kenya: Our Pillars of Impact</a:t>
            </a:r>
            <a:endParaRPr lang="en-US" sz="6000" b="1">
              <a:ea typeface="+mn-lt"/>
              <a:cs typeface="+mn-lt"/>
            </a:endParaRPr>
          </a:p>
        </p:txBody>
      </p:sp>
      <p:sp>
        <p:nvSpPr>
          <p:cNvPr id="6" name="TextBox 6"/>
          <p:cNvSpPr txBox="1"/>
          <p:nvPr/>
        </p:nvSpPr>
        <p:spPr>
          <a:xfrm>
            <a:off x="1836638" y="3131880"/>
            <a:ext cx="11767684" cy="455189"/>
          </a:xfrm>
          <a:prstGeom prst="rect">
            <a:avLst/>
          </a:prstGeom>
        </p:spPr>
        <p:txBody>
          <a:bodyPr lIns="0" tIns="0" rIns="0" bIns="0" rtlCol="0" anchor="t">
            <a:spAutoFit/>
          </a:bodyPr>
          <a:lstStyle/>
          <a:p>
            <a:pPr>
              <a:lnSpc>
                <a:spcPts val="3758"/>
              </a:lnSpc>
            </a:pPr>
            <a:r>
              <a:rPr lang="en-US" sz="2650" b="1">
                <a:solidFill>
                  <a:srgbClr val="2254C5"/>
                </a:solidFill>
                <a:ea typeface="+mn-lt"/>
                <a:cs typeface="+mn-lt"/>
                <a:sym typeface="Atkinson Hyperlegible"/>
              </a:rPr>
              <a:t>Building Resilient Development with Generative AI in Agriculture</a:t>
            </a:r>
            <a:endParaRPr lang="en-US" b="1">
              <a:ea typeface="+mn-lt"/>
              <a:cs typeface="+mn-lt"/>
            </a:endParaRPr>
          </a:p>
        </p:txBody>
      </p:sp>
      <p:sp>
        <p:nvSpPr>
          <p:cNvPr id="7" name="TextBox 7"/>
          <p:cNvSpPr txBox="1"/>
          <p:nvPr/>
        </p:nvSpPr>
        <p:spPr>
          <a:xfrm>
            <a:off x="841055" y="4323141"/>
            <a:ext cx="3100169" cy="4192879"/>
          </a:xfrm>
          <a:prstGeom prst="rect">
            <a:avLst/>
          </a:prstGeom>
        </p:spPr>
        <p:txBody>
          <a:bodyPr lIns="0" tIns="0" rIns="0" bIns="0" rtlCol="0" anchor="t">
            <a:spAutoFit/>
          </a:bodyPr>
          <a:lstStyle/>
          <a:p>
            <a:pPr>
              <a:lnSpc>
                <a:spcPts val="3308"/>
              </a:lnSpc>
            </a:pPr>
            <a:r>
              <a:rPr lang="en-US" sz="2350" b="1">
                <a:solidFill>
                  <a:srgbClr val="2254C5"/>
                </a:solidFill>
                <a:latin typeface="Montserrat Bold"/>
                <a:ea typeface="Montserrat Bold"/>
                <a:cs typeface="Montserrat Bold"/>
                <a:sym typeface="Montserrat Bold"/>
              </a:rPr>
              <a:t>Pillar 1:</a:t>
            </a:r>
            <a:r>
              <a:rPr lang="en-US" sz="2350" b="1" dirty="0">
                <a:solidFill>
                  <a:srgbClr val="2254C5"/>
                </a:solidFill>
                <a:latin typeface="Montserrat Bold"/>
                <a:ea typeface="+mn-lt"/>
                <a:cs typeface="+mn-lt"/>
                <a:sym typeface="Montserrat Bold"/>
              </a:rPr>
              <a:t> </a:t>
            </a:r>
            <a:r>
              <a:rPr lang="en-US" sz="2350" b="1">
                <a:solidFill>
                  <a:srgbClr val="2254C5"/>
                </a:solidFill>
                <a:ea typeface="+mn-lt"/>
                <a:cs typeface="+mn-lt"/>
                <a:sym typeface="Montserrat Bold"/>
              </a:rPr>
              <a:t>Smart Technology Integration</a:t>
            </a:r>
            <a:endParaRPr lang="en-US" b="1">
              <a:solidFill>
                <a:srgbClr val="000000"/>
              </a:solidFill>
              <a:ea typeface="+mn-lt"/>
              <a:cs typeface="+mn-lt"/>
            </a:endParaRPr>
          </a:p>
          <a:p>
            <a:endParaRPr lang="en-US" sz="2350" dirty="0">
              <a:solidFill>
                <a:srgbClr val="2254C5"/>
              </a:solidFill>
              <a:ea typeface="+mn-lt"/>
              <a:cs typeface="+mn-lt"/>
            </a:endParaRPr>
          </a:p>
          <a:p>
            <a:r>
              <a:rPr lang="en-US" sz="2350">
                <a:solidFill>
                  <a:srgbClr val="2254C5"/>
                </a:solidFill>
                <a:ea typeface="+mn-lt"/>
                <a:cs typeface="+mn-lt"/>
              </a:rPr>
              <a:t>IoT sensors, AI-powered climate control, and smartphone-based remote monitoring for precision mushroom farming.</a:t>
            </a:r>
            <a:endParaRPr lang="en-US">
              <a:ea typeface="+mn-lt"/>
              <a:cs typeface="+mn-lt"/>
            </a:endParaRPr>
          </a:p>
          <a:p>
            <a:pPr>
              <a:lnSpc>
                <a:spcPts val="3308"/>
              </a:lnSpc>
            </a:pPr>
            <a:endParaRPr lang="en-US" sz="2350" b="1" dirty="0">
              <a:solidFill>
                <a:srgbClr val="2254C5"/>
              </a:solidFill>
              <a:latin typeface="Montserrat Bold"/>
              <a:ea typeface="Montserrat Bold"/>
              <a:cs typeface="Montserrat Bold"/>
            </a:endParaRPr>
          </a:p>
          <a:p>
            <a:pPr>
              <a:lnSpc>
                <a:spcPts val="3308"/>
              </a:lnSpc>
            </a:pPr>
            <a:endParaRPr lang="en-US" sz="2350" b="1" dirty="0">
              <a:solidFill>
                <a:srgbClr val="2254C5"/>
              </a:solidFill>
              <a:latin typeface="Montserrat Bold"/>
              <a:ea typeface="Montserrat Bold"/>
              <a:cs typeface="Montserrat Bold"/>
            </a:endParaRPr>
          </a:p>
        </p:txBody>
      </p:sp>
      <p:sp>
        <p:nvSpPr>
          <p:cNvPr id="8" name="TextBox 8"/>
          <p:cNvSpPr txBox="1"/>
          <p:nvPr/>
        </p:nvSpPr>
        <p:spPr>
          <a:xfrm>
            <a:off x="4147446" y="4323141"/>
            <a:ext cx="3230658" cy="4200574"/>
          </a:xfrm>
          <a:prstGeom prst="rect">
            <a:avLst/>
          </a:prstGeom>
        </p:spPr>
        <p:txBody>
          <a:bodyPr wrap="square" lIns="0" tIns="0" rIns="0" bIns="0" rtlCol="0" anchor="t">
            <a:spAutoFit/>
          </a:bodyPr>
          <a:lstStyle/>
          <a:p>
            <a:pPr>
              <a:lnSpc>
                <a:spcPts val="3308"/>
              </a:lnSpc>
            </a:pPr>
            <a:r>
              <a:rPr lang="en-US" sz="2350" b="1">
                <a:solidFill>
                  <a:srgbClr val="2254C5"/>
                </a:solidFill>
                <a:latin typeface="Montserrat Bold"/>
                <a:ea typeface="Montserrat Bold"/>
                <a:cs typeface="Montserrat Bold"/>
                <a:sym typeface="Montserrat Bold"/>
              </a:rPr>
              <a:t>Pillar 2:</a:t>
            </a:r>
            <a:r>
              <a:rPr lang="en-US" sz="2350" b="1" dirty="0">
                <a:solidFill>
                  <a:srgbClr val="2254C5"/>
                </a:solidFill>
                <a:latin typeface="Montserrat Bold"/>
                <a:ea typeface="+mn-lt"/>
                <a:cs typeface="+mn-lt"/>
                <a:sym typeface="Montserrat Bold"/>
              </a:rPr>
              <a:t> </a:t>
            </a:r>
            <a:r>
              <a:rPr lang="en-US" sz="2350" b="1">
                <a:solidFill>
                  <a:srgbClr val="2254C5"/>
                </a:solidFill>
                <a:ea typeface="+mn-lt"/>
                <a:cs typeface="+mn-lt"/>
                <a:sym typeface="Montserrat Bold"/>
              </a:rPr>
              <a:t>Spawn Production &amp; Distribution</a:t>
            </a:r>
            <a:endParaRPr lang="en-US" sz="2350">
              <a:solidFill>
                <a:srgbClr val="2254C5"/>
              </a:solidFill>
              <a:ea typeface="+mn-lt"/>
              <a:cs typeface="+mn-lt"/>
            </a:endParaRPr>
          </a:p>
          <a:p>
            <a:pPr>
              <a:lnSpc>
                <a:spcPts val="3308"/>
              </a:lnSpc>
            </a:pPr>
            <a:endParaRPr lang="en-US" sz="2350" dirty="0">
              <a:solidFill>
                <a:srgbClr val="2254C5"/>
              </a:solidFill>
              <a:latin typeface="Calibri"/>
              <a:ea typeface="Calibri"/>
              <a:cs typeface="Calibri"/>
              <a:sym typeface="Montserrat Bold"/>
            </a:endParaRPr>
          </a:p>
          <a:p>
            <a:pPr algn="l">
              <a:lnSpc>
                <a:spcPts val="3308"/>
              </a:lnSpc>
            </a:pPr>
            <a:r>
              <a:rPr lang="en-US" sz="2350">
                <a:solidFill>
                  <a:srgbClr val="2254C5"/>
                </a:solidFill>
                <a:latin typeface="Calibri"/>
                <a:ea typeface="Calibri"/>
                <a:cs typeface="Calibri"/>
                <a:sym typeface="Montserrat Bold"/>
              </a:rPr>
              <a:t>Climate-resilient</a:t>
            </a:r>
            <a:r>
              <a:rPr lang="en-US" sz="2350" dirty="0">
                <a:solidFill>
                  <a:srgbClr val="2254C5"/>
                </a:solidFill>
                <a:ea typeface="+mn-lt"/>
                <a:cs typeface="+mn-lt"/>
              </a:rPr>
              <a:t> </a:t>
            </a:r>
            <a:r>
              <a:rPr lang="en-US" sz="2350">
                <a:solidFill>
                  <a:srgbClr val="2254C5"/>
                </a:solidFill>
                <a:ea typeface="+mn-lt"/>
                <a:cs typeface="+mn-lt"/>
              </a:rPr>
              <a:t>spawn production and nationwide distribution to empower smallholder farmers with quality inputs.</a:t>
            </a:r>
            <a:endParaRPr lang="en-US">
              <a:ea typeface="+mn-lt"/>
              <a:cs typeface="+mn-lt"/>
            </a:endParaRPr>
          </a:p>
          <a:p>
            <a:pPr>
              <a:lnSpc>
                <a:spcPts val="3308"/>
              </a:lnSpc>
            </a:pPr>
            <a:endParaRPr lang="en-US" sz="2350" b="1" dirty="0">
              <a:solidFill>
                <a:srgbClr val="2254C5"/>
              </a:solidFill>
              <a:latin typeface="Montserrat Bold"/>
              <a:ea typeface="Montserrat Bold"/>
              <a:cs typeface="Montserrat Bold"/>
            </a:endParaRPr>
          </a:p>
        </p:txBody>
      </p:sp>
      <p:sp>
        <p:nvSpPr>
          <p:cNvPr id="9" name="TextBox 9"/>
          <p:cNvSpPr txBox="1"/>
          <p:nvPr/>
        </p:nvSpPr>
        <p:spPr>
          <a:xfrm>
            <a:off x="7472386" y="4323141"/>
            <a:ext cx="2924803" cy="4531433"/>
          </a:xfrm>
          <a:prstGeom prst="rect">
            <a:avLst/>
          </a:prstGeom>
        </p:spPr>
        <p:txBody>
          <a:bodyPr wrap="square" lIns="0" tIns="0" rIns="0" bIns="0" rtlCol="0" anchor="t">
            <a:spAutoFit/>
          </a:bodyPr>
          <a:lstStyle/>
          <a:p>
            <a:pPr>
              <a:lnSpc>
                <a:spcPts val="3308"/>
              </a:lnSpc>
            </a:pPr>
            <a:r>
              <a:rPr lang="en-US" sz="2350" b="1">
                <a:solidFill>
                  <a:srgbClr val="2254C5"/>
                </a:solidFill>
                <a:latin typeface="Montserrat Bold"/>
                <a:ea typeface="Montserrat Bold"/>
                <a:cs typeface="Montserrat Bold"/>
                <a:sym typeface="Montserrat Bold"/>
              </a:rPr>
              <a:t>Pillar 3: </a:t>
            </a:r>
            <a:r>
              <a:rPr lang="en-US" sz="2350" b="1">
                <a:solidFill>
                  <a:srgbClr val="2254C5"/>
                </a:solidFill>
                <a:ea typeface="+mn-lt"/>
                <a:cs typeface="+mn-lt"/>
                <a:sym typeface="Montserrat Bold"/>
              </a:rPr>
              <a:t>Training &amp; Capacity Building</a:t>
            </a:r>
            <a:endParaRPr lang="en-US" sz="2362" b="1">
              <a:solidFill>
                <a:srgbClr val="2254C5"/>
              </a:solidFill>
              <a:ea typeface="+mn-lt"/>
              <a:cs typeface="+mn-lt"/>
            </a:endParaRPr>
          </a:p>
          <a:p>
            <a:endParaRPr lang="en-US" b="1" dirty="0"/>
          </a:p>
          <a:p>
            <a:r>
              <a:rPr lang="en-US" sz="2350">
                <a:solidFill>
                  <a:srgbClr val="2254C5"/>
                </a:solidFill>
                <a:ea typeface="+mn-lt"/>
                <a:cs typeface="+mn-lt"/>
              </a:rPr>
              <a:t>Digital skills acquisition, entrepreneurship training, and hands-on workshops for youth, women, and local communities.</a:t>
            </a:r>
            <a:endParaRPr lang="en-US"/>
          </a:p>
          <a:p>
            <a:pPr>
              <a:lnSpc>
                <a:spcPts val="3308"/>
              </a:lnSpc>
            </a:pPr>
            <a:endParaRPr lang="en-US" sz="2350" b="1" dirty="0">
              <a:solidFill>
                <a:srgbClr val="2254C5"/>
              </a:solidFill>
              <a:latin typeface="Montserrat Bold"/>
              <a:ea typeface="Montserrat Bold"/>
              <a:cs typeface="Montserrat Bold"/>
            </a:endParaRPr>
          </a:p>
          <a:p>
            <a:pPr>
              <a:lnSpc>
                <a:spcPts val="3308"/>
              </a:lnSpc>
            </a:pPr>
            <a:endParaRPr lang="en-US" sz="2350" b="1" dirty="0">
              <a:solidFill>
                <a:srgbClr val="2254C5"/>
              </a:solidFill>
              <a:latin typeface="Montserrat Bold"/>
              <a:ea typeface="Montserrat Bold"/>
              <a:cs typeface="Montserrat Bold"/>
            </a:endParaRPr>
          </a:p>
          <a:p>
            <a:pPr>
              <a:lnSpc>
                <a:spcPts val="3308"/>
              </a:lnSpc>
            </a:pPr>
            <a:endParaRPr lang="en-US" sz="2350" b="1" dirty="0">
              <a:solidFill>
                <a:srgbClr val="2254C5"/>
              </a:solidFill>
              <a:latin typeface="Montserrat Bold"/>
              <a:ea typeface="Montserrat Bold"/>
              <a:cs typeface="Montserrat Bold"/>
            </a:endParaRPr>
          </a:p>
        </p:txBody>
      </p:sp>
      <p:sp>
        <p:nvSpPr>
          <p:cNvPr id="10" name="TextBox 10"/>
          <p:cNvSpPr txBox="1"/>
          <p:nvPr/>
        </p:nvSpPr>
        <p:spPr>
          <a:xfrm>
            <a:off x="10821954" y="4323141"/>
            <a:ext cx="3070516" cy="5377819"/>
          </a:xfrm>
          <a:prstGeom prst="rect">
            <a:avLst/>
          </a:prstGeom>
        </p:spPr>
        <p:txBody>
          <a:bodyPr wrap="square" lIns="0" tIns="0" rIns="0" bIns="0" rtlCol="0" anchor="t">
            <a:spAutoFit/>
          </a:bodyPr>
          <a:lstStyle/>
          <a:p>
            <a:pPr>
              <a:lnSpc>
                <a:spcPts val="3308"/>
              </a:lnSpc>
            </a:pPr>
            <a:r>
              <a:rPr lang="en-US" sz="2350" b="1">
                <a:solidFill>
                  <a:srgbClr val="2254C5"/>
                </a:solidFill>
                <a:latin typeface="Montserrat Bold"/>
                <a:ea typeface="Montserrat Bold"/>
                <a:cs typeface="Montserrat Bold"/>
                <a:sym typeface="Montserrat Bold"/>
              </a:rPr>
              <a:t>Pillar 4:</a:t>
            </a:r>
            <a:r>
              <a:rPr lang="en-US" sz="2350" b="1" dirty="0">
                <a:solidFill>
                  <a:srgbClr val="2254C5"/>
                </a:solidFill>
                <a:latin typeface="Montserrat Bold"/>
                <a:ea typeface="+mn-lt"/>
                <a:cs typeface="+mn-lt"/>
                <a:sym typeface="Montserrat Bold"/>
              </a:rPr>
              <a:t> </a:t>
            </a:r>
            <a:r>
              <a:rPr lang="en-US" sz="2350" b="1">
                <a:solidFill>
                  <a:srgbClr val="2254C5"/>
                </a:solidFill>
                <a:ea typeface="+mn-lt"/>
                <a:cs typeface="+mn-lt"/>
                <a:sym typeface="Montserrat Bold"/>
              </a:rPr>
              <a:t>Research &amp; Innovation</a:t>
            </a:r>
            <a:endParaRPr lang="en-US" sz="2362" b="1">
              <a:solidFill>
                <a:srgbClr val="2254C5"/>
              </a:solidFill>
              <a:ea typeface="+mn-lt"/>
              <a:cs typeface="+mn-lt"/>
            </a:endParaRPr>
          </a:p>
          <a:p>
            <a:endParaRPr lang="en-US" b="1" dirty="0">
              <a:ea typeface="Calibri"/>
              <a:cs typeface="Calibri"/>
            </a:endParaRPr>
          </a:p>
          <a:p>
            <a:r>
              <a:rPr lang="en-US" sz="2350">
                <a:solidFill>
                  <a:srgbClr val="2254C5"/>
                </a:solidFill>
                <a:ea typeface="+mn-lt"/>
                <a:cs typeface="+mn-lt"/>
              </a:rPr>
              <a:t>Applied research in partnership with universities, sensor testing, data analytics, and sustainable farming innovations.</a:t>
            </a:r>
            <a:endParaRPr lang="en-US">
              <a:ea typeface="+mn-lt"/>
              <a:cs typeface="+mn-lt"/>
            </a:endParaRPr>
          </a:p>
          <a:p>
            <a:pPr>
              <a:lnSpc>
                <a:spcPts val="3308"/>
              </a:lnSpc>
            </a:pPr>
            <a:endParaRPr lang="en-US" sz="2350" b="1" dirty="0">
              <a:solidFill>
                <a:srgbClr val="2254C5"/>
              </a:solidFill>
              <a:latin typeface="Montserrat Bold"/>
              <a:ea typeface="Montserrat Bold"/>
              <a:cs typeface="Montserrat Bold"/>
            </a:endParaRPr>
          </a:p>
          <a:p>
            <a:pPr>
              <a:lnSpc>
                <a:spcPts val="3308"/>
              </a:lnSpc>
            </a:pPr>
            <a:endParaRPr lang="en-US" sz="2350" b="1" dirty="0">
              <a:solidFill>
                <a:srgbClr val="2254C5"/>
              </a:solidFill>
              <a:latin typeface="Montserrat Bold"/>
              <a:ea typeface="Montserrat Bold"/>
              <a:cs typeface="Montserrat Bold"/>
            </a:endParaRPr>
          </a:p>
          <a:p>
            <a:pPr>
              <a:lnSpc>
                <a:spcPts val="3308"/>
              </a:lnSpc>
            </a:pPr>
            <a:endParaRPr lang="en-US" sz="2350" b="1" dirty="0">
              <a:solidFill>
                <a:srgbClr val="2254C5"/>
              </a:solidFill>
              <a:latin typeface="Montserrat Bold"/>
              <a:ea typeface="Montserrat Bold"/>
              <a:cs typeface="Montserrat Bold"/>
            </a:endParaRPr>
          </a:p>
          <a:p>
            <a:pPr>
              <a:lnSpc>
                <a:spcPts val="3308"/>
              </a:lnSpc>
            </a:pPr>
            <a:endParaRPr lang="en-US" sz="2350" b="1" dirty="0">
              <a:solidFill>
                <a:srgbClr val="2254C5"/>
              </a:solidFill>
              <a:latin typeface="Montserrat Bold"/>
              <a:ea typeface="Montserrat Bold"/>
              <a:cs typeface="Montserrat Bold"/>
            </a:endParaRPr>
          </a:p>
          <a:p>
            <a:pPr>
              <a:lnSpc>
                <a:spcPts val="3308"/>
              </a:lnSpc>
            </a:pPr>
            <a:endParaRPr lang="en-US" sz="2350" b="1" dirty="0">
              <a:solidFill>
                <a:srgbClr val="2254C5"/>
              </a:solidFill>
              <a:latin typeface="Montserrat Bold"/>
              <a:ea typeface="Montserrat Bold"/>
              <a:cs typeface="Montserrat Bold"/>
            </a:endParaRPr>
          </a:p>
        </p:txBody>
      </p:sp>
      <p:sp>
        <p:nvSpPr>
          <p:cNvPr id="11" name="TextBox 11"/>
          <p:cNvSpPr txBox="1"/>
          <p:nvPr/>
        </p:nvSpPr>
        <p:spPr>
          <a:xfrm>
            <a:off x="14195223" y="4323141"/>
            <a:ext cx="3544363" cy="4954626"/>
          </a:xfrm>
          <a:prstGeom prst="rect">
            <a:avLst/>
          </a:prstGeom>
        </p:spPr>
        <p:txBody>
          <a:bodyPr wrap="square" lIns="0" tIns="0" rIns="0" bIns="0" rtlCol="0" anchor="t">
            <a:spAutoFit/>
          </a:bodyPr>
          <a:lstStyle/>
          <a:p>
            <a:pPr>
              <a:lnSpc>
                <a:spcPts val="3308"/>
              </a:lnSpc>
            </a:pPr>
            <a:r>
              <a:rPr lang="en-US" sz="2350" b="1">
                <a:solidFill>
                  <a:srgbClr val="2254C5"/>
                </a:solidFill>
                <a:latin typeface="Montserrat Bold"/>
                <a:ea typeface="Montserrat Bold"/>
                <a:cs typeface="Montserrat Bold"/>
                <a:sym typeface="Montserrat Bold"/>
              </a:rPr>
              <a:t>Pillar 5:</a:t>
            </a:r>
            <a:r>
              <a:rPr lang="en-US" sz="2350" b="1" dirty="0">
                <a:solidFill>
                  <a:srgbClr val="2254C5"/>
                </a:solidFill>
                <a:latin typeface="Montserrat Bold"/>
                <a:ea typeface="+mn-lt"/>
                <a:cs typeface="+mn-lt"/>
                <a:sym typeface="Montserrat Bold"/>
              </a:rPr>
              <a:t> </a:t>
            </a:r>
            <a:r>
              <a:rPr lang="en-US" sz="2350" b="1">
                <a:solidFill>
                  <a:srgbClr val="2254C5"/>
                </a:solidFill>
                <a:ea typeface="+mn-lt"/>
                <a:cs typeface="+mn-lt"/>
                <a:sym typeface="Montserrat Bold"/>
              </a:rPr>
              <a:t>Environmental Conservation</a:t>
            </a:r>
            <a:endParaRPr lang="en-US" sz="2362" b="1">
              <a:solidFill>
                <a:srgbClr val="2254C5"/>
              </a:solidFill>
              <a:ea typeface="+mn-lt"/>
              <a:cs typeface="+mn-lt"/>
            </a:endParaRPr>
          </a:p>
          <a:p>
            <a:endParaRPr lang="en-US" b="1" dirty="0">
              <a:ea typeface="Calibri"/>
              <a:cs typeface="Calibri"/>
            </a:endParaRPr>
          </a:p>
          <a:p>
            <a:r>
              <a:rPr lang="en-US" sz="2350">
                <a:solidFill>
                  <a:srgbClr val="2254C5"/>
                </a:solidFill>
                <a:ea typeface="+mn-lt"/>
                <a:cs typeface="+mn-lt"/>
              </a:rPr>
              <a:t>Reducing deforestation through climate-smart alternatives, forest preservation, and promoting sustainable agricultural practices.</a:t>
            </a:r>
            <a:endParaRPr lang="en-US">
              <a:ea typeface="+mn-lt"/>
              <a:cs typeface="+mn-lt"/>
            </a:endParaRPr>
          </a:p>
          <a:p>
            <a:pPr>
              <a:lnSpc>
                <a:spcPts val="3308"/>
              </a:lnSpc>
            </a:pPr>
            <a:br>
              <a:rPr lang="en-US" dirty="0"/>
            </a:br>
            <a:endParaRPr lang="en-US" dirty="0"/>
          </a:p>
          <a:p>
            <a:pPr>
              <a:lnSpc>
                <a:spcPts val="3308"/>
              </a:lnSpc>
            </a:pPr>
            <a:endParaRPr lang="en-US" sz="2350" b="1" dirty="0">
              <a:solidFill>
                <a:srgbClr val="2254C5"/>
              </a:solidFill>
              <a:latin typeface="Montserrat Bold"/>
              <a:ea typeface="Montserrat Bold"/>
              <a:cs typeface="Montserrat Bold"/>
            </a:endParaRPr>
          </a:p>
          <a:p>
            <a:pPr>
              <a:lnSpc>
                <a:spcPts val="3308"/>
              </a:lnSpc>
            </a:pPr>
            <a:endParaRPr lang="en-US" sz="2350" b="1" dirty="0">
              <a:solidFill>
                <a:srgbClr val="2254C5"/>
              </a:solidFill>
              <a:latin typeface="Montserrat Bold"/>
              <a:ea typeface="Montserrat Bold"/>
              <a:cs typeface="Montserrat Bold"/>
            </a:endParaRPr>
          </a:p>
        </p:txBody>
      </p:sp>
      <p:grpSp>
        <p:nvGrpSpPr>
          <p:cNvPr id="12" name="Group 12"/>
          <p:cNvGrpSpPr/>
          <p:nvPr/>
        </p:nvGrpSpPr>
        <p:grpSpPr>
          <a:xfrm>
            <a:off x="-72600" y="9972719"/>
            <a:ext cx="18433201" cy="38100"/>
            <a:chOff x="0" y="0"/>
            <a:chExt cx="24577601" cy="50800"/>
          </a:xfrm>
        </p:grpSpPr>
        <p:sp>
          <p:nvSpPr>
            <p:cNvPr id="13" name="Freeform 13"/>
            <p:cNvSpPr/>
            <p:nvPr/>
          </p:nvSpPr>
          <p:spPr>
            <a:xfrm>
              <a:off x="25400" y="0"/>
              <a:ext cx="24526748" cy="50800"/>
            </a:xfrm>
            <a:custGeom>
              <a:avLst/>
              <a:gdLst/>
              <a:ahLst/>
              <a:cxnLst/>
              <a:rect l="l" t="t" r="r" b="b"/>
              <a:pathLst>
                <a:path w="24526748" h="50800">
                  <a:moveTo>
                    <a:pt x="0" y="0"/>
                  </a:moveTo>
                  <a:lnTo>
                    <a:pt x="24526748" y="0"/>
                  </a:lnTo>
                  <a:lnTo>
                    <a:pt x="24526748" y="50800"/>
                  </a:lnTo>
                  <a:lnTo>
                    <a:pt x="0" y="50800"/>
                  </a:lnTo>
                  <a:close/>
                </a:path>
              </a:pathLst>
            </a:custGeom>
            <a:solidFill>
              <a:srgbClr val="2254C5"/>
            </a:solidFill>
          </p:spPr>
        </p:sp>
      </p:grpSp>
      <p:grpSp>
        <p:nvGrpSpPr>
          <p:cNvPr id="14" name="Group 14"/>
          <p:cNvGrpSpPr/>
          <p:nvPr/>
        </p:nvGrpSpPr>
        <p:grpSpPr>
          <a:xfrm>
            <a:off x="493970" y="600845"/>
            <a:ext cx="1069460" cy="1069460"/>
            <a:chOff x="0" y="0"/>
            <a:chExt cx="1425947" cy="1425947"/>
          </a:xfrm>
        </p:grpSpPr>
        <p:sp>
          <p:nvSpPr>
            <p:cNvPr id="15" name="Freeform 15"/>
            <p:cNvSpPr/>
            <p:nvPr/>
          </p:nvSpPr>
          <p:spPr>
            <a:xfrm>
              <a:off x="0" y="0"/>
              <a:ext cx="1425956" cy="1425956"/>
            </a:xfrm>
            <a:custGeom>
              <a:avLst/>
              <a:gdLst/>
              <a:ahLst/>
              <a:cxnLst/>
              <a:rect l="l" t="t" r="r" b="b"/>
              <a:pathLst>
                <a:path w="1425956" h="1425956">
                  <a:moveTo>
                    <a:pt x="0" y="0"/>
                  </a:moveTo>
                  <a:lnTo>
                    <a:pt x="1425956" y="0"/>
                  </a:lnTo>
                  <a:lnTo>
                    <a:pt x="1425956" y="1425956"/>
                  </a:lnTo>
                  <a:lnTo>
                    <a:pt x="0" y="1425956"/>
                  </a:lnTo>
                  <a:lnTo>
                    <a:pt x="0" y="0"/>
                  </a:lnTo>
                  <a:close/>
                </a:path>
              </a:pathLst>
            </a:custGeom>
            <a:blipFill>
              <a:blip r:embed="rId3"/>
              <a:stretch>
                <a:fillRect/>
              </a:stretch>
            </a:blipFill>
          </p:spPr>
        </p:sp>
      </p:grpSp>
      <p:grpSp>
        <p:nvGrpSpPr>
          <p:cNvPr id="16" name="Group 16"/>
          <p:cNvGrpSpPr/>
          <p:nvPr/>
        </p:nvGrpSpPr>
        <p:grpSpPr>
          <a:xfrm>
            <a:off x="1563430" y="600845"/>
            <a:ext cx="2364767" cy="1069460"/>
            <a:chOff x="0" y="0"/>
            <a:chExt cx="3153023" cy="1425947"/>
          </a:xfrm>
        </p:grpSpPr>
        <p:sp>
          <p:nvSpPr>
            <p:cNvPr id="17" name="Freeform 17"/>
            <p:cNvSpPr/>
            <p:nvPr/>
          </p:nvSpPr>
          <p:spPr>
            <a:xfrm>
              <a:off x="0" y="0"/>
              <a:ext cx="3153029" cy="1425956"/>
            </a:xfrm>
            <a:custGeom>
              <a:avLst/>
              <a:gdLst/>
              <a:ahLst/>
              <a:cxnLst/>
              <a:rect l="l" t="t" r="r" b="b"/>
              <a:pathLst>
                <a:path w="3153029" h="1425956">
                  <a:moveTo>
                    <a:pt x="0" y="0"/>
                  </a:moveTo>
                  <a:lnTo>
                    <a:pt x="3153029" y="0"/>
                  </a:lnTo>
                  <a:lnTo>
                    <a:pt x="3153029" y="1425956"/>
                  </a:lnTo>
                  <a:lnTo>
                    <a:pt x="0" y="1425956"/>
                  </a:lnTo>
                  <a:lnTo>
                    <a:pt x="0" y="0"/>
                  </a:lnTo>
                  <a:close/>
                </a:path>
              </a:pathLst>
            </a:custGeom>
            <a:blipFill>
              <a:blip r:embed="rId4"/>
              <a:stretch>
                <a:fillRect t="-60558" b="-60557"/>
              </a:stretch>
            </a:blip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1835774" y="619244"/>
            <a:ext cx="6466514" cy="28575"/>
            <a:chOff x="0" y="0"/>
            <a:chExt cx="8622019" cy="38100"/>
          </a:xfrm>
        </p:grpSpPr>
        <p:sp>
          <p:nvSpPr>
            <p:cNvPr id="4" name="Freeform 4"/>
            <p:cNvSpPr/>
            <p:nvPr/>
          </p:nvSpPr>
          <p:spPr>
            <a:xfrm>
              <a:off x="19050" y="0"/>
              <a:ext cx="8583930" cy="38100"/>
            </a:xfrm>
            <a:custGeom>
              <a:avLst/>
              <a:gdLst/>
              <a:ahLst/>
              <a:cxnLst/>
              <a:rect l="l" t="t" r="r" b="b"/>
              <a:pathLst>
                <a:path w="8583930" h="38100">
                  <a:moveTo>
                    <a:pt x="0" y="0"/>
                  </a:moveTo>
                  <a:lnTo>
                    <a:pt x="8583930" y="0"/>
                  </a:lnTo>
                  <a:lnTo>
                    <a:pt x="8583930" y="38100"/>
                  </a:lnTo>
                  <a:lnTo>
                    <a:pt x="0" y="38100"/>
                  </a:lnTo>
                  <a:close/>
                </a:path>
              </a:pathLst>
            </a:custGeom>
            <a:solidFill>
              <a:srgbClr val="2254C5"/>
            </a:solidFill>
          </p:spPr>
        </p:sp>
      </p:grpSp>
      <p:grpSp>
        <p:nvGrpSpPr>
          <p:cNvPr id="5" name="Group 5"/>
          <p:cNvGrpSpPr/>
          <p:nvPr/>
        </p:nvGrpSpPr>
        <p:grpSpPr>
          <a:xfrm>
            <a:off x="7868553" y="2269134"/>
            <a:ext cx="28575" cy="6466514"/>
            <a:chOff x="0" y="0"/>
            <a:chExt cx="38100" cy="8622019"/>
          </a:xfrm>
        </p:grpSpPr>
        <p:sp>
          <p:nvSpPr>
            <p:cNvPr id="6" name="Freeform 6"/>
            <p:cNvSpPr/>
            <p:nvPr/>
          </p:nvSpPr>
          <p:spPr>
            <a:xfrm>
              <a:off x="0" y="19050"/>
              <a:ext cx="38100" cy="8583930"/>
            </a:xfrm>
            <a:custGeom>
              <a:avLst/>
              <a:gdLst/>
              <a:ahLst/>
              <a:cxnLst/>
              <a:rect l="l" t="t" r="r" b="b"/>
              <a:pathLst>
                <a:path w="38100" h="8583930">
                  <a:moveTo>
                    <a:pt x="38100" y="0"/>
                  </a:moveTo>
                  <a:lnTo>
                    <a:pt x="38100" y="8583930"/>
                  </a:lnTo>
                  <a:lnTo>
                    <a:pt x="0" y="8583930"/>
                  </a:lnTo>
                  <a:lnTo>
                    <a:pt x="0" y="0"/>
                  </a:lnTo>
                  <a:close/>
                </a:path>
              </a:pathLst>
            </a:custGeom>
            <a:solidFill>
              <a:srgbClr val="2254C5"/>
            </a:solidFill>
          </p:spPr>
        </p:sp>
      </p:grpSp>
      <p:grpSp>
        <p:nvGrpSpPr>
          <p:cNvPr id="7" name="Group 7"/>
          <p:cNvGrpSpPr/>
          <p:nvPr/>
        </p:nvGrpSpPr>
        <p:grpSpPr>
          <a:xfrm>
            <a:off x="816297" y="3218696"/>
            <a:ext cx="6868560" cy="4576178"/>
            <a:chOff x="0" y="0"/>
            <a:chExt cx="9158080" cy="6101571"/>
          </a:xfrm>
        </p:grpSpPr>
        <p:sp>
          <p:nvSpPr>
            <p:cNvPr id="8" name="Freeform 8"/>
            <p:cNvSpPr/>
            <p:nvPr/>
          </p:nvSpPr>
          <p:spPr>
            <a:xfrm>
              <a:off x="0" y="0"/>
              <a:ext cx="9158097" cy="6101588"/>
            </a:xfrm>
            <a:custGeom>
              <a:avLst/>
              <a:gdLst/>
              <a:ahLst/>
              <a:cxnLst/>
              <a:rect l="l" t="t" r="r" b="b"/>
              <a:pathLst>
                <a:path w="9158097" h="6101588">
                  <a:moveTo>
                    <a:pt x="0" y="0"/>
                  </a:moveTo>
                  <a:lnTo>
                    <a:pt x="9158097" y="0"/>
                  </a:lnTo>
                  <a:lnTo>
                    <a:pt x="9158097" y="6101588"/>
                  </a:lnTo>
                  <a:lnTo>
                    <a:pt x="0" y="6101588"/>
                  </a:lnTo>
                  <a:lnTo>
                    <a:pt x="0" y="0"/>
                  </a:lnTo>
                  <a:close/>
                </a:path>
              </a:pathLst>
            </a:custGeom>
            <a:blipFill>
              <a:blip r:embed="rId3"/>
              <a:stretch>
                <a:fillRect l="-35482" r="-35482"/>
              </a:stretch>
            </a:blipFill>
          </p:spPr>
        </p:sp>
      </p:grpSp>
      <p:sp>
        <p:nvSpPr>
          <p:cNvPr id="9" name="TextBox 9"/>
          <p:cNvSpPr txBox="1"/>
          <p:nvPr/>
        </p:nvSpPr>
        <p:spPr>
          <a:xfrm>
            <a:off x="8079763" y="2266413"/>
            <a:ext cx="8536384" cy="563744"/>
          </a:xfrm>
          <a:prstGeom prst="rect">
            <a:avLst/>
          </a:prstGeom>
        </p:spPr>
        <p:txBody>
          <a:bodyPr lIns="0" tIns="0" rIns="0" bIns="0" rtlCol="0" anchor="t">
            <a:spAutoFit/>
          </a:bodyPr>
          <a:lstStyle/>
          <a:p>
            <a:pPr>
              <a:lnSpc>
                <a:spcPts val="4686"/>
              </a:lnSpc>
            </a:pPr>
            <a:r>
              <a:rPr lang="en-US" sz="3300" b="1">
                <a:solidFill>
                  <a:srgbClr val="2254C5"/>
                </a:solidFill>
                <a:ea typeface="+mn-lt"/>
                <a:cs typeface="+mn-lt"/>
                <a:sym typeface="Montserrat Bold"/>
              </a:rPr>
              <a:t>Digital Tools for Farmers</a:t>
            </a:r>
            <a:endParaRPr lang="en-US" b="1">
              <a:ea typeface="+mn-lt"/>
              <a:cs typeface="+mn-lt"/>
            </a:endParaRPr>
          </a:p>
        </p:txBody>
      </p:sp>
      <p:sp>
        <p:nvSpPr>
          <p:cNvPr id="10" name="TextBox 10"/>
          <p:cNvSpPr txBox="1"/>
          <p:nvPr/>
        </p:nvSpPr>
        <p:spPr>
          <a:xfrm>
            <a:off x="8081741" y="4046583"/>
            <a:ext cx="9204529" cy="837537"/>
          </a:xfrm>
          <a:prstGeom prst="rect">
            <a:avLst/>
          </a:prstGeom>
        </p:spPr>
        <p:txBody>
          <a:bodyPr lIns="0" tIns="0" rIns="0" bIns="0" rtlCol="0" anchor="t">
            <a:spAutoFit/>
          </a:bodyPr>
          <a:lstStyle/>
          <a:p>
            <a:pPr algn="just">
              <a:lnSpc>
                <a:spcPts val="3370"/>
              </a:lnSpc>
            </a:pPr>
            <a:r>
              <a:rPr lang="en-US" sz="2200" b="1" spc="51">
                <a:solidFill>
                  <a:srgbClr val="2254C5"/>
                </a:solidFill>
                <a:ea typeface="+mn-lt"/>
                <a:cs typeface="+mn-lt"/>
                <a:sym typeface="Atkinson Hyperlegible Bold"/>
              </a:rPr>
              <a:t>BRIDGE-AI Website</a:t>
            </a:r>
            <a:r>
              <a:rPr lang="en-US" sz="2200" spc="51">
                <a:solidFill>
                  <a:srgbClr val="2254C5"/>
                </a:solidFill>
                <a:ea typeface="+mn-lt"/>
                <a:cs typeface="+mn-lt"/>
                <a:sym typeface="Atkinson Hyperlegible Bold"/>
              </a:rPr>
              <a:t> - Central hub showcasing project information, research </a:t>
            </a:r>
            <a:r>
              <a:rPr lang="en-US" sz="2200" spc="51" dirty="0">
                <a:solidFill>
                  <a:srgbClr val="2254C5"/>
                </a:solidFill>
                <a:ea typeface="+mn-lt"/>
                <a:cs typeface="+mn-lt"/>
                <a:sym typeface="Atkinson Hyperlegible Bold"/>
              </a:rPr>
              <a:t>updates, training resources, and partner collaborations.</a:t>
            </a:r>
            <a:endParaRPr lang="en-US" dirty="0">
              <a:ea typeface="+mn-lt"/>
              <a:cs typeface="+mn-lt"/>
            </a:endParaRPr>
          </a:p>
        </p:txBody>
      </p:sp>
      <p:sp>
        <p:nvSpPr>
          <p:cNvPr id="11" name="TextBox 11"/>
          <p:cNvSpPr txBox="1"/>
          <p:nvPr/>
        </p:nvSpPr>
        <p:spPr>
          <a:xfrm>
            <a:off x="608551" y="2176672"/>
            <a:ext cx="6493891" cy="606705"/>
          </a:xfrm>
          <a:prstGeom prst="rect">
            <a:avLst/>
          </a:prstGeom>
        </p:spPr>
        <p:txBody>
          <a:bodyPr lIns="0" tIns="0" rIns="0" bIns="0" rtlCol="0" anchor="t">
            <a:spAutoFit/>
          </a:bodyPr>
          <a:lstStyle/>
          <a:p>
            <a:pPr algn="ctr">
              <a:lnSpc>
                <a:spcPts val="4892"/>
              </a:lnSpc>
            </a:pPr>
            <a:r>
              <a:rPr lang="en-US" sz="4000" b="1">
                <a:solidFill>
                  <a:srgbClr val="2254C5"/>
                </a:solidFill>
                <a:ea typeface="+mn-lt"/>
                <a:cs typeface="+mn-lt"/>
                <a:sym typeface="Montserrat Bold"/>
              </a:rPr>
              <a:t>BRIDGE-AI Platform</a:t>
            </a:r>
            <a:endParaRPr lang="en-US" b="1">
              <a:ea typeface="+mn-lt"/>
              <a:cs typeface="+mn-lt"/>
            </a:endParaRPr>
          </a:p>
        </p:txBody>
      </p:sp>
      <p:sp>
        <p:nvSpPr>
          <p:cNvPr id="12" name="TextBox 12"/>
          <p:cNvSpPr txBox="1"/>
          <p:nvPr/>
        </p:nvSpPr>
        <p:spPr>
          <a:xfrm>
            <a:off x="8081741" y="6230372"/>
            <a:ext cx="9204529" cy="1199624"/>
          </a:xfrm>
          <a:prstGeom prst="rect">
            <a:avLst/>
          </a:prstGeom>
        </p:spPr>
        <p:txBody>
          <a:bodyPr lIns="0" tIns="0" rIns="0" bIns="0" rtlCol="0" anchor="t">
            <a:spAutoFit/>
          </a:bodyPr>
          <a:lstStyle/>
          <a:p>
            <a:pPr algn="just">
              <a:lnSpc>
                <a:spcPts val="3220"/>
              </a:lnSpc>
            </a:pPr>
            <a:r>
              <a:rPr lang="en-US" sz="2100" b="1" spc="49">
                <a:solidFill>
                  <a:srgbClr val="2254C5"/>
                </a:solidFill>
                <a:ea typeface="+mn-lt"/>
                <a:cs typeface="+mn-lt"/>
                <a:sym typeface="Atkinson Hyperlegible"/>
              </a:rPr>
              <a:t>Farmers Dashboard</a:t>
            </a:r>
            <a:r>
              <a:rPr lang="en-US" sz="2100" spc="49">
                <a:solidFill>
                  <a:srgbClr val="2254C5"/>
                </a:solidFill>
                <a:ea typeface="+mn-lt"/>
                <a:cs typeface="+mn-lt"/>
                <a:sym typeface="Atkinson Hyperlegible"/>
              </a:rPr>
              <a:t> - Real-time mobile/desktop interface for farmers to </a:t>
            </a:r>
            <a:r>
              <a:rPr lang="en-US" sz="2100" spc="49" dirty="0">
                <a:solidFill>
                  <a:srgbClr val="2254C5"/>
                </a:solidFill>
                <a:ea typeface="+mn-lt"/>
                <a:cs typeface="+mn-lt"/>
                <a:sym typeface="Atkinson Hyperlegible"/>
              </a:rPr>
              <a:t>monitor mushroom house conditions (temperature, humidity, CO₂, light) remotely via smartphone. </a:t>
            </a:r>
            <a:endParaRPr lang="en-US" dirty="0">
              <a:ea typeface="+mn-lt"/>
              <a:cs typeface="+mn-lt"/>
            </a:endParaRPr>
          </a:p>
        </p:txBody>
      </p:sp>
      <p:sp>
        <p:nvSpPr>
          <p:cNvPr id="13" name="TextBox 13"/>
          <p:cNvSpPr txBox="1"/>
          <p:nvPr/>
        </p:nvSpPr>
        <p:spPr>
          <a:xfrm>
            <a:off x="8081740" y="8456331"/>
            <a:ext cx="9160987" cy="789255"/>
          </a:xfrm>
          <a:prstGeom prst="rect">
            <a:avLst/>
          </a:prstGeom>
        </p:spPr>
        <p:txBody>
          <a:bodyPr wrap="square" lIns="0" tIns="0" rIns="0" bIns="0" rtlCol="0" anchor="t">
            <a:spAutoFit/>
          </a:bodyPr>
          <a:lstStyle/>
          <a:p>
            <a:pPr algn="just">
              <a:lnSpc>
                <a:spcPts val="3220"/>
              </a:lnSpc>
            </a:pPr>
            <a:r>
              <a:rPr lang="en-US" sz="2100" spc="49" dirty="0">
                <a:solidFill>
                  <a:srgbClr val="2254C5"/>
                </a:solidFill>
                <a:ea typeface="+mn-lt"/>
                <a:cs typeface="+mn-lt"/>
                <a:sym typeface="Atkinson Hyperlegible Bold"/>
              </a:rPr>
              <a:t> </a:t>
            </a:r>
            <a:r>
              <a:rPr lang="en-US" sz="2100" b="1" spc="49">
                <a:solidFill>
                  <a:srgbClr val="2254C5"/>
                </a:solidFill>
                <a:ea typeface="+mn-lt"/>
                <a:cs typeface="+mn-lt"/>
                <a:sym typeface="Atkinson Hyperlegible Bold"/>
              </a:rPr>
              <a:t>Key Features</a:t>
            </a:r>
            <a:r>
              <a:rPr lang="en-US" sz="2100" spc="49">
                <a:solidFill>
                  <a:srgbClr val="2254C5"/>
                </a:solidFill>
                <a:ea typeface="+mn-lt"/>
                <a:cs typeface="+mn-lt"/>
                <a:sym typeface="Atkinson Hyperlegible Bold"/>
              </a:rPr>
              <a:t> – Automated alerts, yield tracking, crop health insights, and AI-powered recommendations for optimal harvest timing.</a:t>
            </a:r>
            <a:endParaRPr lang="en-US">
              <a:ea typeface="+mn-lt"/>
              <a:cs typeface="+mn-lt"/>
            </a:endParaRPr>
          </a:p>
        </p:txBody>
      </p:sp>
      <p:grpSp>
        <p:nvGrpSpPr>
          <p:cNvPr id="14" name="Group 14"/>
          <p:cNvGrpSpPr/>
          <p:nvPr/>
        </p:nvGrpSpPr>
        <p:grpSpPr>
          <a:xfrm>
            <a:off x="-72600" y="9972719"/>
            <a:ext cx="18433201" cy="38100"/>
            <a:chOff x="0" y="0"/>
            <a:chExt cx="24577601" cy="50800"/>
          </a:xfrm>
        </p:grpSpPr>
        <p:sp>
          <p:nvSpPr>
            <p:cNvPr id="15" name="Freeform 15"/>
            <p:cNvSpPr/>
            <p:nvPr/>
          </p:nvSpPr>
          <p:spPr>
            <a:xfrm>
              <a:off x="25400" y="0"/>
              <a:ext cx="24526748" cy="50800"/>
            </a:xfrm>
            <a:custGeom>
              <a:avLst/>
              <a:gdLst/>
              <a:ahLst/>
              <a:cxnLst/>
              <a:rect l="l" t="t" r="r" b="b"/>
              <a:pathLst>
                <a:path w="24526748" h="50800">
                  <a:moveTo>
                    <a:pt x="0" y="0"/>
                  </a:moveTo>
                  <a:lnTo>
                    <a:pt x="24526748" y="0"/>
                  </a:lnTo>
                  <a:lnTo>
                    <a:pt x="24526748" y="50800"/>
                  </a:lnTo>
                  <a:lnTo>
                    <a:pt x="0" y="50800"/>
                  </a:lnTo>
                  <a:close/>
                </a:path>
              </a:pathLst>
            </a:custGeom>
            <a:solidFill>
              <a:srgbClr val="2254C5"/>
            </a:solidFill>
          </p:spPr>
        </p:sp>
      </p:grpSp>
      <p:grpSp>
        <p:nvGrpSpPr>
          <p:cNvPr id="16" name="Group 16"/>
          <p:cNvGrpSpPr/>
          <p:nvPr/>
        </p:nvGrpSpPr>
        <p:grpSpPr>
          <a:xfrm>
            <a:off x="493970" y="600845"/>
            <a:ext cx="1069460" cy="1069460"/>
            <a:chOff x="0" y="0"/>
            <a:chExt cx="1425947" cy="1425947"/>
          </a:xfrm>
        </p:grpSpPr>
        <p:sp>
          <p:nvSpPr>
            <p:cNvPr id="17" name="Freeform 17"/>
            <p:cNvSpPr/>
            <p:nvPr/>
          </p:nvSpPr>
          <p:spPr>
            <a:xfrm>
              <a:off x="0" y="0"/>
              <a:ext cx="1425956" cy="1425956"/>
            </a:xfrm>
            <a:custGeom>
              <a:avLst/>
              <a:gdLst/>
              <a:ahLst/>
              <a:cxnLst/>
              <a:rect l="l" t="t" r="r" b="b"/>
              <a:pathLst>
                <a:path w="1425956" h="1425956">
                  <a:moveTo>
                    <a:pt x="0" y="0"/>
                  </a:moveTo>
                  <a:lnTo>
                    <a:pt x="1425956" y="0"/>
                  </a:lnTo>
                  <a:lnTo>
                    <a:pt x="1425956" y="1425956"/>
                  </a:lnTo>
                  <a:lnTo>
                    <a:pt x="0" y="1425956"/>
                  </a:lnTo>
                  <a:lnTo>
                    <a:pt x="0" y="0"/>
                  </a:lnTo>
                  <a:close/>
                </a:path>
              </a:pathLst>
            </a:custGeom>
            <a:blipFill>
              <a:blip r:embed="rId4"/>
              <a:stretch>
                <a:fillRect/>
              </a:stretch>
            </a:blipFill>
          </p:spPr>
        </p:sp>
      </p:grpSp>
      <p:grpSp>
        <p:nvGrpSpPr>
          <p:cNvPr id="18" name="Group 18"/>
          <p:cNvGrpSpPr/>
          <p:nvPr/>
        </p:nvGrpSpPr>
        <p:grpSpPr>
          <a:xfrm>
            <a:off x="1563430" y="600845"/>
            <a:ext cx="2364767" cy="1069460"/>
            <a:chOff x="0" y="0"/>
            <a:chExt cx="3153023" cy="1425947"/>
          </a:xfrm>
        </p:grpSpPr>
        <p:sp>
          <p:nvSpPr>
            <p:cNvPr id="19" name="Freeform 19"/>
            <p:cNvSpPr/>
            <p:nvPr/>
          </p:nvSpPr>
          <p:spPr>
            <a:xfrm>
              <a:off x="0" y="0"/>
              <a:ext cx="3153029" cy="1425956"/>
            </a:xfrm>
            <a:custGeom>
              <a:avLst/>
              <a:gdLst/>
              <a:ahLst/>
              <a:cxnLst/>
              <a:rect l="l" t="t" r="r" b="b"/>
              <a:pathLst>
                <a:path w="3153029" h="1425956">
                  <a:moveTo>
                    <a:pt x="0" y="0"/>
                  </a:moveTo>
                  <a:lnTo>
                    <a:pt x="3153029" y="0"/>
                  </a:lnTo>
                  <a:lnTo>
                    <a:pt x="3153029" y="1425956"/>
                  </a:lnTo>
                  <a:lnTo>
                    <a:pt x="0" y="1425956"/>
                  </a:lnTo>
                  <a:lnTo>
                    <a:pt x="0" y="0"/>
                  </a:lnTo>
                  <a:close/>
                </a:path>
              </a:pathLst>
            </a:custGeom>
            <a:blipFill>
              <a:blip r:embed="rId5"/>
              <a:stretch>
                <a:fillRect t="-60558" b="-60557"/>
              </a:stretch>
            </a:blipFill>
          </p:spPr>
        </p:sp>
      </p:grpSp>
      <p:pic>
        <p:nvPicPr>
          <p:cNvPr id="23" name="Picture 22">
            <a:extLst>
              <a:ext uri="{FF2B5EF4-FFF2-40B4-BE49-F238E27FC236}">
                <a16:creationId xmlns:a16="http://schemas.microsoft.com/office/drawing/2014/main" id="{E174F13F-7F3A-32C7-0E93-E32F8E2D4C26}"/>
              </a:ext>
            </a:extLst>
          </p:cNvPr>
          <p:cNvPicPr>
            <a:picLocks noChangeAspect="1"/>
          </p:cNvPicPr>
          <p:nvPr/>
        </p:nvPicPr>
        <p:blipFill>
          <a:blip r:embed="rId6"/>
          <a:stretch>
            <a:fillRect/>
          </a:stretch>
        </p:blipFill>
        <p:spPr>
          <a:xfrm>
            <a:off x="475569" y="3220131"/>
            <a:ext cx="7376433" cy="602388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72143"/>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1835774" y="619244"/>
            <a:ext cx="6466514" cy="28575"/>
            <a:chOff x="0" y="0"/>
            <a:chExt cx="8622019" cy="38100"/>
          </a:xfrm>
        </p:grpSpPr>
        <p:sp>
          <p:nvSpPr>
            <p:cNvPr id="4" name="Freeform 4"/>
            <p:cNvSpPr/>
            <p:nvPr/>
          </p:nvSpPr>
          <p:spPr>
            <a:xfrm>
              <a:off x="19050" y="0"/>
              <a:ext cx="8583930" cy="38100"/>
            </a:xfrm>
            <a:custGeom>
              <a:avLst/>
              <a:gdLst/>
              <a:ahLst/>
              <a:cxnLst/>
              <a:rect l="l" t="t" r="r" b="b"/>
              <a:pathLst>
                <a:path w="8583930" h="38100">
                  <a:moveTo>
                    <a:pt x="0" y="0"/>
                  </a:moveTo>
                  <a:lnTo>
                    <a:pt x="8583930" y="0"/>
                  </a:lnTo>
                  <a:lnTo>
                    <a:pt x="8583930" y="38100"/>
                  </a:lnTo>
                  <a:lnTo>
                    <a:pt x="0" y="38100"/>
                  </a:lnTo>
                  <a:close/>
                </a:path>
              </a:pathLst>
            </a:custGeom>
            <a:solidFill>
              <a:srgbClr val="2254C5"/>
            </a:solidFill>
          </p:spPr>
        </p:sp>
      </p:grpSp>
      <p:grpSp>
        <p:nvGrpSpPr>
          <p:cNvPr id="5" name="Group 5"/>
          <p:cNvGrpSpPr/>
          <p:nvPr/>
        </p:nvGrpSpPr>
        <p:grpSpPr>
          <a:xfrm>
            <a:off x="7868553" y="2269134"/>
            <a:ext cx="28575" cy="6466514"/>
            <a:chOff x="0" y="0"/>
            <a:chExt cx="38100" cy="8622019"/>
          </a:xfrm>
        </p:grpSpPr>
        <p:sp>
          <p:nvSpPr>
            <p:cNvPr id="6" name="Freeform 6"/>
            <p:cNvSpPr/>
            <p:nvPr/>
          </p:nvSpPr>
          <p:spPr>
            <a:xfrm>
              <a:off x="0" y="19050"/>
              <a:ext cx="38100" cy="8583930"/>
            </a:xfrm>
            <a:custGeom>
              <a:avLst/>
              <a:gdLst/>
              <a:ahLst/>
              <a:cxnLst/>
              <a:rect l="l" t="t" r="r" b="b"/>
              <a:pathLst>
                <a:path w="38100" h="8583930">
                  <a:moveTo>
                    <a:pt x="38100" y="0"/>
                  </a:moveTo>
                  <a:lnTo>
                    <a:pt x="38100" y="8583930"/>
                  </a:lnTo>
                  <a:lnTo>
                    <a:pt x="0" y="8583930"/>
                  </a:lnTo>
                  <a:lnTo>
                    <a:pt x="0" y="0"/>
                  </a:lnTo>
                  <a:close/>
                </a:path>
              </a:pathLst>
            </a:custGeom>
            <a:solidFill>
              <a:srgbClr val="2254C5"/>
            </a:solidFill>
          </p:spPr>
        </p:sp>
      </p:grpSp>
      <p:grpSp>
        <p:nvGrpSpPr>
          <p:cNvPr id="7" name="Group 7"/>
          <p:cNvGrpSpPr/>
          <p:nvPr/>
        </p:nvGrpSpPr>
        <p:grpSpPr>
          <a:xfrm>
            <a:off x="609468" y="4002467"/>
            <a:ext cx="6868560" cy="4576178"/>
            <a:chOff x="0" y="0"/>
            <a:chExt cx="9158080" cy="6101571"/>
          </a:xfrm>
        </p:grpSpPr>
        <p:sp>
          <p:nvSpPr>
            <p:cNvPr id="8" name="Freeform 8"/>
            <p:cNvSpPr/>
            <p:nvPr/>
          </p:nvSpPr>
          <p:spPr>
            <a:xfrm>
              <a:off x="0" y="0"/>
              <a:ext cx="9158097" cy="6101588"/>
            </a:xfrm>
            <a:custGeom>
              <a:avLst/>
              <a:gdLst/>
              <a:ahLst/>
              <a:cxnLst/>
              <a:rect l="l" t="t" r="r" b="b"/>
              <a:pathLst>
                <a:path w="9158097" h="6101588">
                  <a:moveTo>
                    <a:pt x="0" y="0"/>
                  </a:moveTo>
                  <a:lnTo>
                    <a:pt x="9158097" y="0"/>
                  </a:lnTo>
                  <a:lnTo>
                    <a:pt x="9158097" y="6101588"/>
                  </a:lnTo>
                  <a:lnTo>
                    <a:pt x="0" y="6101588"/>
                  </a:lnTo>
                  <a:lnTo>
                    <a:pt x="0" y="0"/>
                  </a:lnTo>
                  <a:close/>
                </a:path>
              </a:pathLst>
            </a:custGeom>
            <a:blipFill>
              <a:blip r:embed="rId3"/>
              <a:stretch>
                <a:fillRect l="-35482" r="-35482"/>
              </a:stretch>
            </a:blipFill>
          </p:spPr>
        </p:sp>
      </p:grpSp>
      <p:sp>
        <p:nvSpPr>
          <p:cNvPr id="9" name="TextBox 9"/>
          <p:cNvSpPr txBox="1"/>
          <p:nvPr/>
        </p:nvSpPr>
        <p:spPr>
          <a:xfrm>
            <a:off x="8286592" y="2266413"/>
            <a:ext cx="8536384" cy="602729"/>
          </a:xfrm>
          <a:prstGeom prst="rect">
            <a:avLst/>
          </a:prstGeom>
        </p:spPr>
        <p:txBody>
          <a:bodyPr lIns="0" tIns="0" rIns="0" bIns="0" rtlCol="0" anchor="t">
            <a:spAutoFit/>
          </a:bodyPr>
          <a:lstStyle/>
          <a:p>
            <a:pPr>
              <a:lnSpc>
                <a:spcPts val="4686"/>
              </a:lnSpc>
            </a:pPr>
            <a:r>
              <a:rPr lang="en-US" sz="4400" b="1">
                <a:solidFill>
                  <a:srgbClr val="2254C5"/>
                </a:solidFill>
                <a:ea typeface="+mn-lt"/>
                <a:cs typeface="+mn-lt"/>
                <a:sym typeface="Montserrat Bold"/>
              </a:rPr>
              <a:t>Sensors + AI = Precision Agriculture</a:t>
            </a:r>
            <a:endParaRPr lang="en-US" sz="4400" b="1">
              <a:ea typeface="+mn-lt"/>
              <a:cs typeface="+mn-lt"/>
            </a:endParaRPr>
          </a:p>
        </p:txBody>
      </p:sp>
      <p:sp>
        <p:nvSpPr>
          <p:cNvPr id="10" name="TextBox 10"/>
          <p:cNvSpPr txBox="1"/>
          <p:nvPr/>
        </p:nvSpPr>
        <p:spPr>
          <a:xfrm>
            <a:off x="8288570" y="4003040"/>
            <a:ext cx="9204529" cy="837537"/>
          </a:xfrm>
          <a:prstGeom prst="rect">
            <a:avLst/>
          </a:prstGeom>
        </p:spPr>
        <p:txBody>
          <a:bodyPr lIns="0" tIns="0" rIns="0" bIns="0" rtlCol="0" anchor="t">
            <a:spAutoFit/>
          </a:bodyPr>
          <a:lstStyle/>
          <a:p>
            <a:pPr algn="just">
              <a:lnSpc>
                <a:spcPts val="3370"/>
              </a:lnSpc>
            </a:pPr>
            <a:r>
              <a:rPr lang="en-US" sz="2200" b="1" spc="51">
                <a:solidFill>
                  <a:srgbClr val="2254C5"/>
                </a:solidFill>
                <a:ea typeface="+mn-lt"/>
                <a:cs typeface="+mn-lt"/>
                <a:sym typeface="Atkinson Hyperlegible Bold"/>
              </a:rPr>
              <a:t>Sensors Deployed</a:t>
            </a:r>
            <a:r>
              <a:rPr lang="en-US" sz="2200" spc="51">
                <a:solidFill>
                  <a:srgbClr val="2254C5"/>
                </a:solidFill>
                <a:ea typeface="+mn-lt"/>
                <a:cs typeface="+mn-lt"/>
                <a:sym typeface="Atkinson Hyperlegible Bold"/>
              </a:rPr>
              <a:t> - Temperature, humidity, CO₂, light intensity, and soil </a:t>
            </a:r>
            <a:r>
              <a:rPr lang="en-US" sz="2200" spc="51" dirty="0">
                <a:solidFill>
                  <a:srgbClr val="2254C5"/>
                </a:solidFill>
                <a:ea typeface="+mn-lt"/>
                <a:cs typeface="+mn-lt"/>
                <a:sym typeface="Atkinson Hyperlegible Bold"/>
              </a:rPr>
              <a:t>moisture sensors installed in mushroom houses for real-time data collection.</a:t>
            </a:r>
            <a:endParaRPr lang="en-US" dirty="0">
              <a:ea typeface="+mn-lt"/>
              <a:cs typeface="+mn-lt"/>
            </a:endParaRPr>
          </a:p>
        </p:txBody>
      </p:sp>
      <p:sp>
        <p:nvSpPr>
          <p:cNvPr id="11" name="TextBox 11"/>
          <p:cNvSpPr txBox="1"/>
          <p:nvPr/>
        </p:nvSpPr>
        <p:spPr>
          <a:xfrm>
            <a:off x="42495" y="2241983"/>
            <a:ext cx="7821947" cy="1302793"/>
          </a:xfrm>
          <a:prstGeom prst="rect">
            <a:avLst/>
          </a:prstGeom>
        </p:spPr>
        <p:txBody>
          <a:bodyPr wrap="square" lIns="0" tIns="0" rIns="0" bIns="0" rtlCol="0" anchor="t">
            <a:spAutoFit/>
          </a:bodyPr>
          <a:lstStyle/>
          <a:p>
            <a:pPr>
              <a:lnSpc>
                <a:spcPts val="4892"/>
              </a:lnSpc>
            </a:pPr>
            <a:r>
              <a:rPr lang="en-US" sz="4400" b="1">
                <a:solidFill>
                  <a:srgbClr val="2254C5"/>
                </a:solidFill>
                <a:ea typeface="+mn-lt"/>
                <a:cs typeface="+mn-lt"/>
                <a:sym typeface="Montserrat Bold"/>
              </a:rPr>
              <a:t>IoT-Powered Smart Mushroom Farming</a:t>
            </a:r>
            <a:endParaRPr lang="en-US" sz="4400" b="1">
              <a:ea typeface="+mn-lt"/>
              <a:cs typeface="+mn-lt"/>
            </a:endParaRPr>
          </a:p>
        </p:txBody>
      </p:sp>
      <p:sp>
        <p:nvSpPr>
          <p:cNvPr id="12" name="TextBox 12"/>
          <p:cNvSpPr txBox="1"/>
          <p:nvPr/>
        </p:nvSpPr>
        <p:spPr>
          <a:xfrm>
            <a:off x="8288570" y="6284801"/>
            <a:ext cx="9204529" cy="789255"/>
          </a:xfrm>
          <a:prstGeom prst="rect">
            <a:avLst/>
          </a:prstGeom>
        </p:spPr>
        <p:txBody>
          <a:bodyPr lIns="0" tIns="0" rIns="0" bIns="0" rtlCol="0" anchor="t">
            <a:spAutoFit/>
          </a:bodyPr>
          <a:lstStyle/>
          <a:p>
            <a:pPr algn="just">
              <a:lnSpc>
                <a:spcPts val="3220"/>
              </a:lnSpc>
            </a:pPr>
            <a:r>
              <a:rPr lang="en-US" sz="2100" b="1" spc="49">
                <a:solidFill>
                  <a:srgbClr val="2254C5"/>
                </a:solidFill>
                <a:ea typeface="+mn-lt"/>
                <a:cs typeface="+mn-lt"/>
                <a:sym typeface="Atkinson Hyperlegible"/>
              </a:rPr>
              <a:t>AI Monitoring</a:t>
            </a:r>
            <a:r>
              <a:rPr lang="en-US" sz="2100" spc="49">
                <a:solidFill>
                  <a:srgbClr val="2254C5"/>
                </a:solidFill>
                <a:ea typeface="+mn-lt"/>
                <a:cs typeface="+mn-lt"/>
                <a:sym typeface="Atkinson Hyperlegible"/>
              </a:rPr>
              <a:t> - Data analyzed by AI algorithms to automatically regulate </a:t>
            </a:r>
            <a:r>
              <a:rPr lang="en-US" sz="2100" spc="49" dirty="0">
                <a:solidFill>
                  <a:srgbClr val="2254C5"/>
                </a:solidFill>
                <a:ea typeface="+mn-lt"/>
                <a:cs typeface="+mn-lt"/>
                <a:sym typeface="Atkinson Hyperlegible"/>
              </a:rPr>
              <a:t>climate conditions, detect anomalies, and predict optimal harvest windows.</a:t>
            </a:r>
            <a:endParaRPr lang="en-US" dirty="0">
              <a:ea typeface="+mn-lt"/>
              <a:cs typeface="+mn-lt"/>
            </a:endParaRPr>
          </a:p>
        </p:txBody>
      </p:sp>
      <p:sp>
        <p:nvSpPr>
          <p:cNvPr id="13" name="TextBox 13"/>
          <p:cNvSpPr txBox="1"/>
          <p:nvPr/>
        </p:nvSpPr>
        <p:spPr>
          <a:xfrm>
            <a:off x="8288570" y="8576074"/>
            <a:ext cx="9204529" cy="789255"/>
          </a:xfrm>
          <a:prstGeom prst="rect">
            <a:avLst/>
          </a:prstGeom>
        </p:spPr>
        <p:txBody>
          <a:bodyPr lIns="0" tIns="0" rIns="0" bIns="0" rtlCol="0" anchor="t">
            <a:spAutoFit/>
          </a:bodyPr>
          <a:lstStyle/>
          <a:p>
            <a:pPr algn="just">
              <a:lnSpc>
                <a:spcPts val="3220"/>
              </a:lnSpc>
            </a:pPr>
            <a:r>
              <a:rPr lang="en-US" sz="2100" b="1" spc="49">
                <a:solidFill>
                  <a:srgbClr val="2254C5"/>
                </a:solidFill>
                <a:ea typeface="+mn-lt"/>
                <a:cs typeface="+mn-lt"/>
                <a:sym typeface="Atkinson Hyperlegible Bold"/>
              </a:rPr>
              <a:t>Impact</a:t>
            </a:r>
            <a:r>
              <a:rPr lang="en-US" sz="2100" spc="49">
                <a:solidFill>
                  <a:srgbClr val="2254C5"/>
                </a:solidFill>
                <a:ea typeface="+mn-lt"/>
                <a:cs typeface="+mn-lt"/>
                <a:sym typeface="Atkinson Hyperlegible Bold"/>
              </a:rPr>
              <a:t> - Increased yield, reduced crop loss, minimized manual intervention, </a:t>
            </a:r>
            <a:r>
              <a:rPr lang="en-US" sz="2100" spc="49" dirty="0">
                <a:solidFill>
                  <a:srgbClr val="2254C5"/>
                </a:solidFill>
                <a:ea typeface="+mn-lt"/>
                <a:cs typeface="+mn-lt"/>
                <a:sym typeface="Atkinson Hyperlegible Bold"/>
              </a:rPr>
              <a:t>and actionable insights delivered directly to farmers' phones.</a:t>
            </a:r>
            <a:endParaRPr lang="en-US" dirty="0">
              <a:ea typeface="+mn-lt"/>
              <a:cs typeface="+mn-lt"/>
            </a:endParaRPr>
          </a:p>
        </p:txBody>
      </p:sp>
      <p:grpSp>
        <p:nvGrpSpPr>
          <p:cNvPr id="14" name="Group 14"/>
          <p:cNvGrpSpPr/>
          <p:nvPr/>
        </p:nvGrpSpPr>
        <p:grpSpPr>
          <a:xfrm>
            <a:off x="-72600" y="9972719"/>
            <a:ext cx="18433201" cy="38100"/>
            <a:chOff x="0" y="0"/>
            <a:chExt cx="24577601" cy="50800"/>
          </a:xfrm>
        </p:grpSpPr>
        <p:sp>
          <p:nvSpPr>
            <p:cNvPr id="15" name="Freeform 15"/>
            <p:cNvSpPr/>
            <p:nvPr/>
          </p:nvSpPr>
          <p:spPr>
            <a:xfrm>
              <a:off x="25400" y="0"/>
              <a:ext cx="24526748" cy="50800"/>
            </a:xfrm>
            <a:custGeom>
              <a:avLst/>
              <a:gdLst/>
              <a:ahLst/>
              <a:cxnLst/>
              <a:rect l="l" t="t" r="r" b="b"/>
              <a:pathLst>
                <a:path w="24526748" h="50800">
                  <a:moveTo>
                    <a:pt x="0" y="0"/>
                  </a:moveTo>
                  <a:lnTo>
                    <a:pt x="24526748" y="0"/>
                  </a:lnTo>
                  <a:lnTo>
                    <a:pt x="24526748" y="50800"/>
                  </a:lnTo>
                  <a:lnTo>
                    <a:pt x="0" y="50800"/>
                  </a:lnTo>
                  <a:close/>
                </a:path>
              </a:pathLst>
            </a:custGeom>
            <a:solidFill>
              <a:srgbClr val="2254C5"/>
            </a:solidFill>
          </p:spPr>
        </p:sp>
      </p:grpSp>
      <p:grpSp>
        <p:nvGrpSpPr>
          <p:cNvPr id="16" name="Group 16"/>
          <p:cNvGrpSpPr/>
          <p:nvPr/>
        </p:nvGrpSpPr>
        <p:grpSpPr>
          <a:xfrm>
            <a:off x="493970" y="600845"/>
            <a:ext cx="1069460" cy="1069460"/>
            <a:chOff x="0" y="0"/>
            <a:chExt cx="1425947" cy="1425947"/>
          </a:xfrm>
        </p:grpSpPr>
        <p:sp>
          <p:nvSpPr>
            <p:cNvPr id="17" name="Freeform 17"/>
            <p:cNvSpPr/>
            <p:nvPr/>
          </p:nvSpPr>
          <p:spPr>
            <a:xfrm>
              <a:off x="0" y="0"/>
              <a:ext cx="1425956" cy="1425956"/>
            </a:xfrm>
            <a:custGeom>
              <a:avLst/>
              <a:gdLst/>
              <a:ahLst/>
              <a:cxnLst/>
              <a:rect l="l" t="t" r="r" b="b"/>
              <a:pathLst>
                <a:path w="1425956" h="1425956">
                  <a:moveTo>
                    <a:pt x="0" y="0"/>
                  </a:moveTo>
                  <a:lnTo>
                    <a:pt x="1425956" y="0"/>
                  </a:lnTo>
                  <a:lnTo>
                    <a:pt x="1425956" y="1425956"/>
                  </a:lnTo>
                  <a:lnTo>
                    <a:pt x="0" y="1425956"/>
                  </a:lnTo>
                  <a:lnTo>
                    <a:pt x="0" y="0"/>
                  </a:lnTo>
                  <a:close/>
                </a:path>
              </a:pathLst>
            </a:custGeom>
            <a:blipFill>
              <a:blip r:embed="rId4"/>
              <a:stretch>
                <a:fillRect/>
              </a:stretch>
            </a:blipFill>
          </p:spPr>
        </p:sp>
      </p:grpSp>
      <p:grpSp>
        <p:nvGrpSpPr>
          <p:cNvPr id="18" name="Group 18"/>
          <p:cNvGrpSpPr/>
          <p:nvPr/>
        </p:nvGrpSpPr>
        <p:grpSpPr>
          <a:xfrm>
            <a:off x="1563430" y="600845"/>
            <a:ext cx="2364767" cy="1069460"/>
            <a:chOff x="0" y="0"/>
            <a:chExt cx="3153023" cy="1425947"/>
          </a:xfrm>
        </p:grpSpPr>
        <p:sp>
          <p:nvSpPr>
            <p:cNvPr id="19" name="Freeform 19"/>
            <p:cNvSpPr/>
            <p:nvPr/>
          </p:nvSpPr>
          <p:spPr>
            <a:xfrm>
              <a:off x="0" y="0"/>
              <a:ext cx="3153029" cy="1425956"/>
            </a:xfrm>
            <a:custGeom>
              <a:avLst/>
              <a:gdLst/>
              <a:ahLst/>
              <a:cxnLst/>
              <a:rect l="l" t="t" r="r" b="b"/>
              <a:pathLst>
                <a:path w="3153029" h="1425956">
                  <a:moveTo>
                    <a:pt x="0" y="0"/>
                  </a:moveTo>
                  <a:lnTo>
                    <a:pt x="3153029" y="0"/>
                  </a:lnTo>
                  <a:lnTo>
                    <a:pt x="3153029" y="1425956"/>
                  </a:lnTo>
                  <a:lnTo>
                    <a:pt x="0" y="1425956"/>
                  </a:lnTo>
                  <a:lnTo>
                    <a:pt x="0" y="0"/>
                  </a:lnTo>
                  <a:close/>
                </a:path>
              </a:pathLst>
            </a:custGeom>
            <a:blipFill>
              <a:blip r:embed="rId5"/>
              <a:stretch>
                <a:fillRect t="-60558" b="-60557"/>
              </a:stretch>
            </a:blipFill>
          </p:spPr>
        </p:sp>
      </p:grpSp>
      <p:pic>
        <p:nvPicPr>
          <p:cNvPr id="21" name="Picture 20">
            <a:extLst>
              <a:ext uri="{FF2B5EF4-FFF2-40B4-BE49-F238E27FC236}">
                <a16:creationId xmlns:a16="http://schemas.microsoft.com/office/drawing/2014/main" id="{DF7E69D9-46A1-8C65-9B8C-2969EB4F0476}"/>
              </a:ext>
            </a:extLst>
          </p:cNvPr>
          <p:cNvPicPr>
            <a:picLocks noChangeAspect="1"/>
          </p:cNvPicPr>
          <p:nvPr/>
        </p:nvPicPr>
        <p:blipFill>
          <a:blip r:embed="rId6"/>
          <a:stretch>
            <a:fillRect/>
          </a:stretch>
        </p:blipFill>
        <p:spPr>
          <a:xfrm>
            <a:off x="47626" y="3446009"/>
            <a:ext cx="7829550" cy="58769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1835774" y="619244"/>
            <a:ext cx="6466514" cy="28575"/>
            <a:chOff x="0" y="0"/>
            <a:chExt cx="8622019" cy="38100"/>
          </a:xfrm>
        </p:grpSpPr>
        <p:sp>
          <p:nvSpPr>
            <p:cNvPr id="4" name="Freeform 4"/>
            <p:cNvSpPr/>
            <p:nvPr/>
          </p:nvSpPr>
          <p:spPr>
            <a:xfrm>
              <a:off x="19050" y="0"/>
              <a:ext cx="8583930" cy="38100"/>
            </a:xfrm>
            <a:custGeom>
              <a:avLst/>
              <a:gdLst/>
              <a:ahLst/>
              <a:cxnLst/>
              <a:rect l="l" t="t" r="r" b="b"/>
              <a:pathLst>
                <a:path w="8583930" h="38100">
                  <a:moveTo>
                    <a:pt x="0" y="0"/>
                  </a:moveTo>
                  <a:lnTo>
                    <a:pt x="8583930" y="0"/>
                  </a:lnTo>
                  <a:lnTo>
                    <a:pt x="8583930" y="38100"/>
                  </a:lnTo>
                  <a:lnTo>
                    <a:pt x="0" y="38100"/>
                  </a:lnTo>
                  <a:close/>
                </a:path>
              </a:pathLst>
            </a:custGeom>
            <a:solidFill>
              <a:srgbClr val="2254C5"/>
            </a:solidFill>
          </p:spPr>
        </p:sp>
      </p:grpSp>
      <p:grpSp>
        <p:nvGrpSpPr>
          <p:cNvPr id="5" name="Group 5"/>
          <p:cNvGrpSpPr/>
          <p:nvPr/>
        </p:nvGrpSpPr>
        <p:grpSpPr>
          <a:xfrm>
            <a:off x="9119205" y="2193421"/>
            <a:ext cx="59754" cy="7064879"/>
            <a:chOff x="0" y="0"/>
            <a:chExt cx="72924" cy="8622019"/>
          </a:xfrm>
        </p:grpSpPr>
        <p:sp>
          <p:nvSpPr>
            <p:cNvPr id="6" name="Freeform 6"/>
            <p:cNvSpPr/>
            <p:nvPr/>
          </p:nvSpPr>
          <p:spPr>
            <a:xfrm>
              <a:off x="0" y="19050"/>
              <a:ext cx="72924" cy="8583930"/>
            </a:xfrm>
            <a:custGeom>
              <a:avLst/>
              <a:gdLst/>
              <a:ahLst/>
              <a:cxnLst/>
              <a:rect l="l" t="t" r="r" b="b"/>
              <a:pathLst>
                <a:path w="72924" h="8583930">
                  <a:moveTo>
                    <a:pt x="72924" y="0"/>
                  </a:moveTo>
                  <a:lnTo>
                    <a:pt x="72924" y="8583930"/>
                  </a:lnTo>
                  <a:lnTo>
                    <a:pt x="0" y="8583930"/>
                  </a:lnTo>
                  <a:lnTo>
                    <a:pt x="0" y="0"/>
                  </a:lnTo>
                  <a:close/>
                </a:path>
              </a:pathLst>
            </a:custGeom>
            <a:solidFill>
              <a:srgbClr val="2254C5"/>
            </a:solidFill>
          </p:spPr>
        </p:sp>
      </p:grpSp>
      <p:grpSp>
        <p:nvGrpSpPr>
          <p:cNvPr id="7" name="Group 7"/>
          <p:cNvGrpSpPr/>
          <p:nvPr/>
        </p:nvGrpSpPr>
        <p:grpSpPr>
          <a:xfrm>
            <a:off x="789206" y="2931297"/>
            <a:ext cx="8006153" cy="3218597"/>
            <a:chOff x="0" y="0"/>
            <a:chExt cx="1146848" cy="461051"/>
          </a:xfrm>
        </p:grpSpPr>
        <p:sp>
          <p:nvSpPr>
            <p:cNvPr id="8" name="Freeform 8"/>
            <p:cNvSpPr/>
            <p:nvPr/>
          </p:nvSpPr>
          <p:spPr>
            <a:xfrm>
              <a:off x="0" y="0"/>
              <a:ext cx="1146848" cy="461051"/>
            </a:xfrm>
            <a:custGeom>
              <a:avLst/>
              <a:gdLst/>
              <a:ahLst/>
              <a:cxnLst/>
              <a:rect l="l" t="t" r="r" b="b"/>
              <a:pathLst>
                <a:path w="1146848" h="461051">
                  <a:moveTo>
                    <a:pt x="0" y="0"/>
                  </a:moveTo>
                  <a:lnTo>
                    <a:pt x="1146848" y="0"/>
                  </a:lnTo>
                  <a:lnTo>
                    <a:pt x="1146848" y="461051"/>
                  </a:lnTo>
                  <a:lnTo>
                    <a:pt x="0" y="461051"/>
                  </a:lnTo>
                  <a:close/>
                </a:path>
              </a:pathLst>
            </a:custGeom>
            <a:blipFill>
              <a:blip r:embed="rId3"/>
              <a:stretch>
                <a:fillRect l="-55495" r="-26368" b="-76292"/>
              </a:stretch>
            </a:blipFill>
          </p:spPr>
        </p:sp>
      </p:grpSp>
      <p:grpSp>
        <p:nvGrpSpPr>
          <p:cNvPr id="9" name="Group 9"/>
          <p:cNvGrpSpPr/>
          <p:nvPr/>
        </p:nvGrpSpPr>
        <p:grpSpPr>
          <a:xfrm>
            <a:off x="789206" y="6313545"/>
            <a:ext cx="4135049" cy="2772339"/>
            <a:chOff x="0" y="0"/>
            <a:chExt cx="1212322" cy="812800"/>
          </a:xfrm>
        </p:grpSpPr>
        <p:sp>
          <p:nvSpPr>
            <p:cNvPr id="10" name="Freeform 10"/>
            <p:cNvSpPr/>
            <p:nvPr/>
          </p:nvSpPr>
          <p:spPr>
            <a:xfrm>
              <a:off x="0" y="0"/>
              <a:ext cx="1212322" cy="812800"/>
            </a:xfrm>
            <a:custGeom>
              <a:avLst/>
              <a:gdLst/>
              <a:ahLst/>
              <a:cxnLst/>
              <a:rect l="l" t="t" r="r" b="b"/>
              <a:pathLst>
                <a:path w="1212322" h="812800">
                  <a:moveTo>
                    <a:pt x="0" y="0"/>
                  </a:moveTo>
                  <a:lnTo>
                    <a:pt x="1212322" y="0"/>
                  </a:lnTo>
                  <a:lnTo>
                    <a:pt x="1212322" y="812800"/>
                  </a:lnTo>
                  <a:lnTo>
                    <a:pt x="0" y="812800"/>
                  </a:lnTo>
                  <a:close/>
                </a:path>
              </a:pathLst>
            </a:custGeom>
            <a:blipFill>
              <a:blip r:embed="rId3"/>
              <a:stretch>
                <a:fillRect l="-52498" r="-19543"/>
              </a:stretch>
            </a:blipFill>
          </p:spPr>
        </p:sp>
      </p:grpSp>
      <p:sp>
        <p:nvSpPr>
          <p:cNvPr id="11" name="TextBox 11"/>
          <p:cNvSpPr txBox="1"/>
          <p:nvPr/>
        </p:nvSpPr>
        <p:spPr>
          <a:xfrm>
            <a:off x="4403711" y="1038225"/>
            <a:ext cx="8979208" cy="809435"/>
          </a:xfrm>
          <a:prstGeom prst="rect">
            <a:avLst/>
          </a:prstGeom>
        </p:spPr>
        <p:txBody>
          <a:bodyPr lIns="0" tIns="0" rIns="0" bIns="0" rtlCol="0" anchor="t">
            <a:spAutoFit/>
          </a:bodyPr>
          <a:lstStyle/>
          <a:p>
            <a:pPr algn="ctr">
              <a:lnSpc>
                <a:spcPts val="6331"/>
              </a:lnSpc>
            </a:pPr>
            <a:r>
              <a:rPr lang="en-US" sz="5400" b="1">
                <a:solidFill>
                  <a:srgbClr val="2254C5"/>
                </a:solidFill>
                <a:latin typeface="Montserrat Bold"/>
                <a:ea typeface="Montserrat Bold"/>
                <a:cs typeface="Montserrat Bold"/>
                <a:sym typeface="Montserrat Bold"/>
              </a:rPr>
              <a:t>Project Launches</a:t>
            </a:r>
          </a:p>
        </p:txBody>
      </p:sp>
      <p:sp>
        <p:nvSpPr>
          <p:cNvPr id="12" name="TextBox 12"/>
          <p:cNvSpPr txBox="1"/>
          <p:nvPr/>
        </p:nvSpPr>
        <p:spPr>
          <a:xfrm>
            <a:off x="1549067" y="2359543"/>
            <a:ext cx="5826631" cy="423193"/>
          </a:xfrm>
          <a:prstGeom prst="rect">
            <a:avLst/>
          </a:prstGeom>
        </p:spPr>
        <p:txBody>
          <a:bodyPr lIns="0" tIns="0" rIns="0" bIns="0" rtlCol="0" anchor="t">
            <a:spAutoFit/>
          </a:bodyPr>
          <a:lstStyle/>
          <a:p>
            <a:pPr algn="ctr">
              <a:lnSpc>
                <a:spcPts val="3283"/>
              </a:lnSpc>
            </a:pPr>
            <a:r>
              <a:rPr lang="en-US" sz="2800" b="1">
                <a:solidFill>
                  <a:srgbClr val="2254C5"/>
                </a:solidFill>
                <a:ea typeface="+mn-lt"/>
                <a:cs typeface="+mn-lt"/>
                <a:sym typeface="Atkinson Hyperlegible Bold Italics"/>
              </a:rPr>
              <a:t>Smart Mushroom Project Launch</a:t>
            </a:r>
            <a:endParaRPr lang="en-US" b="1">
              <a:ea typeface="+mn-lt"/>
              <a:cs typeface="+mn-lt"/>
            </a:endParaRPr>
          </a:p>
        </p:txBody>
      </p:sp>
      <p:grpSp>
        <p:nvGrpSpPr>
          <p:cNvPr id="14" name="Group 14"/>
          <p:cNvGrpSpPr/>
          <p:nvPr/>
        </p:nvGrpSpPr>
        <p:grpSpPr>
          <a:xfrm>
            <a:off x="5009170" y="6313545"/>
            <a:ext cx="3786189" cy="2772339"/>
            <a:chOff x="0" y="0"/>
            <a:chExt cx="1212322" cy="887692"/>
          </a:xfrm>
        </p:grpSpPr>
        <p:sp>
          <p:nvSpPr>
            <p:cNvPr id="15" name="Freeform 15"/>
            <p:cNvSpPr/>
            <p:nvPr/>
          </p:nvSpPr>
          <p:spPr>
            <a:xfrm>
              <a:off x="0" y="0"/>
              <a:ext cx="1212322" cy="887692"/>
            </a:xfrm>
            <a:custGeom>
              <a:avLst/>
              <a:gdLst/>
              <a:ahLst/>
              <a:cxnLst/>
              <a:rect l="l" t="t" r="r" b="b"/>
              <a:pathLst>
                <a:path w="1212322" h="887692">
                  <a:moveTo>
                    <a:pt x="0" y="0"/>
                  </a:moveTo>
                  <a:lnTo>
                    <a:pt x="1212322" y="0"/>
                  </a:lnTo>
                  <a:lnTo>
                    <a:pt x="1212322" y="887692"/>
                  </a:lnTo>
                  <a:lnTo>
                    <a:pt x="0" y="887692"/>
                  </a:lnTo>
                  <a:close/>
                </a:path>
              </a:pathLst>
            </a:custGeom>
            <a:blipFill>
              <a:blip r:embed="rId3"/>
              <a:stretch>
                <a:fillRect l="-52498" r="-19543" b="8436"/>
              </a:stretch>
            </a:blipFill>
          </p:spPr>
        </p:sp>
      </p:grpSp>
      <p:grpSp>
        <p:nvGrpSpPr>
          <p:cNvPr id="16" name="Group 16"/>
          <p:cNvGrpSpPr/>
          <p:nvPr/>
        </p:nvGrpSpPr>
        <p:grpSpPr>
          <a:xfrm>
            <a:off x="10342126" y="2885991"/>
            <a:ext cx="6470835" cy="3263903"/>
            <a:chOff x="0" y="0"/>
            <a:chExt cx="914054" cy="461051"/>
          </a:xfrm>
        </p:grpSpPr>
        <p:sp>
          <p:nvSpPr>
            <p:cNvPr id="17" name="Freeform 17"/>
            <p:cNvSpPr/>
            <p:nvPr/>
          </p:nvSpPr>
          <p:spPr>
            <a:xfrm>
              <a:off x="0" y="0"/>
              <a:ext cx="914054" cy="461051"/>
            </a:xfrm>
            <a:custGeom>
              <a:avLst/>
              <a:gdLst/>
              <a:ahLst/>
              <a:cxnLst/>
              <a:rect l="l" t="t" r="r" b="b"/>
              <a:pathLst>
                <a:path w="914054" h="461051">
                  <a:moveTo>
                    <a:pt x="0" y="0"/>
                  </a:moveTo>
                  <a:lnTo>
                    <a:pt x="914054" y="0"/>
                  </a:lnTo>
                  <a:lnTo>
                    <a:pt x="914054" y="461051"/>
                  </a:lnTo>
                  <a:lnTo>
                    <a:pt x="0" y="461051"/>
                  </a:lnTo>
                  <a:close/>
                </a:path>
              </a:pathLst>
            </a:custGeom>
            <a:blipFill>
              <a:blip r:embed="rId3"/>
              <a:stretch>
                <a:fillRect l="-69629" r="-58552" b="-76292"/>
              </a:stretch>
            </a:blipFill>
          </p:spPr>
        </p:sp>
      </p:grpSp>
      <p:grpSp>
        <p:nvGrpSpPr>
          <p:cNvPr id="18" name="Group 18"/>
          <p:cNvGrpSpPr/>
          <p:nvPr/>
        </p:nvGrpSpPr>
        <p:grpSpPr>
          <a:xfrm>
            <a:off x="9350409" y="6422402"/>
            <a:ext cx="4255178" cy="2852880"/>
            <a:chOff x="0" y="0"/>
            <a:chExt cx="1212322" cy="812800"/>
          </a:xfrm>
        </p:grpSpPr>
        <p:sp>
          <p:nvSpPr>
            <p:cNvPr id="19" name="Freeform 19"/>
            <p:cNvSpPr/>
            <p:nvPr/>
          </p:nvSpPr>
          <p:spPr>
            <a:xfrm>
              <a:off x="0" y="0"/>
              <a:ext cx="1212322" cy="812800"/>
            </a:xfrm>
            <a:custGeom>
              <a:avLst/>
              <a:gdLst/>
              <a:ahLst/>
              <a:cxnLst/>
              <a:rect l="l" t="t" r="r" b="b"/>
              <a:pathLst>
                <a:path w="1212322" h="812800">
                  <a:moveTo>
                    <a:pt x="0" y="0"/>
                  </a:moveTo>
                  <a:lnTo>
                    <a:pt x="1212322" y="0"/>
                  </a:lnTo>
                  <a:lnTo>
                    <a:pt x="1212322" y="812800"/>
                  </a:lnTo>
                  <a:lnTo>
                    <a:pt x="0" y="812800"/>
                  </a:lnTo>
                  <a:close/>
                </a:path>
              </a:pathLst>
            </a:custGeom>
            <a:blipFill>
              <a:blip r:embed="rId3"/>
              <a:stretch>
                <a:fillRect l="-52498" r="-19543"/>
              </a:stretch>
            </a:blipFill>
          </p:spPr>
        </p:sp>
      </p:grpSp>
      <p:grpSp>
        <p:nvGrpSpPr>
          <p:cNvPr id="20" name="Group 20"/>
          <p:cNvGrpSpPr/>
          <p:nvPr/>
        </p:nvGrpSpPr>
        <p:grpSpPr>
          <a:xfrm>
            <a:off x="13777037" y="6444174"/>
            <a:ext cx="4255178" cy="2852880"/>
            <a:chOff x="0" y="0"/>
            <a:chExt cx="1212322" cy="812800"/>
          </a:xfrm>
        </p:grpSpPr>
        <p:sp>
          <p:nvSpPr>
            <p:cNvPr id="21" name="Freeform 21"/>
            <p:cNvSpPr/>
            <p:nvPr/>
          </p:nvSpPr>
          <p:spPr>
            <a:xfrm>
              <a:off x="0" y="0"/>
              <a:ext cx="1212322" cy="812800"/>
            </a:xfrm>
            <a:custGeom>
              <a:avLst/>
              <a:gdLst/>
              <a:ahLst/>
              <a:cxnLst/>
              <a:rect l="l" t="t" r="r" b="b"/>
              <a:pathLst>
                <a:path w="1212322" h="812800">
                  <a:moveTo>
                    <a:pt x="0" y="0"/>
                  </a:moveTo>
                  <a:lnTo>
                    <a:pt x="1212322" y="0"/>
                  </a:lnTo>
                  <a:lnTo>
                    <a:pt x="1212322" y="812800"/>
                  </a:lnTo>
                  <a:lnTo>
                    <a:pt x="0" y="812800"/>
                  </a:lnTo>
                  <a:close/>
                </a:path>
              </a:pathLst>
            </a:custGeom>
            <a:blipFill>
              <a:blip r:embed="rId3"/>
              <a:stretch>
                <a:fillRect l="-52498" r="-19543"/>
              </a:stretch>
            </a:blipFill>
          </p:spPr>
        </p:sp>
      </p:grpSp>
      <p:grpSp>
        <p:nvGrpSpPr>
          <p:cNvPr id="22" name="Group 22"/>
          <p:cNvGrpSpPr/>
          <p:nvPr/>
        </p:nvGrpSpPr>
        <p:grpSpPr>
          <a:xfrm>
            <a:off x="493970" y="600845"/>
            <a:ext cx="1069460" cy="1069460"/>
            <a:chOff x="0" y="0"/>
            <a:chExt cx="1425947" cy="1425947"/>
          </a:xfrm>
        </p:grpSpPr>
        <p:sp>
          <p:nvSpPr>
            <p:cNvPr id="23" name="Freeform 23"/>
            <p:cNvSpPr/>
            <p:nvPr/>
          </p:nvSpPr>
          <p:spPr>
            <a:xfrm>
              <a:off x="0" y="0"/>
              <a:ext cx="1425956" cy="1425956"/>
            </a:xfrm>
            <a:custGeom>
              <a:avLst/>
              <a:gdLst/>
              <a:ahLst/>
              <a:cxnLst/>
              <a:rect l="l" t="t" r="r" b="b"/>
              <a:pathLst>
                <a:path w="1425956" h="1425956">
                  <a:moveTo>
                    <a:pt x="0" y="0"/>
                  </a:moveTo>
                  <a:lnTo>
                    <a:pt x="1425956" y="0"/>
                  </a:lnTo>
                  <a:lnTo>
                    <a:pt x="1425956" y="1425956"/>
                  </a:lnTo>
                  <a:lnTo>
                    <a:pt x="0" y="1425956"/>
                  </a:lnTo>
                  <a:lnTo>
                    <a:pt x="0" y="0"/>
                  </a:lnTo>
                  <a:close/>
                </a:path>
              </a:pathLst>
            </a:custGeom>
            <a:blipFill>
              <a:blip r:embed="rId4"/>
              <a:stretch>
                <a:fillRect/>
              </a:stretch>
            </a:blipFill>
          </p:spPr>
        </p:sp>
      </p:grpSp>
      <p:grpSp>
        <p:nvGrpSpPr>
          <p:cNvPr id="24" name="Group 24"/>
          <p:cNvGrpSpPr/>
          <p:nvPr/>
        </p:nvGrpSpPr>
        <p:grpSpPr>
          <a:xfrm>
            <a:off x="1563430" y="600845"/>
            <a:ext cx="2364767" cy="1069460"/>
            <a:chOff x="0" y="0"/>
            <a:chExt cx="3153023" cy="1425947"/>
          </a:xfrm>
        </p:grpSpPr>
        <p:sp>
          <p:nvSpPr>
            <p:cNvPr id="25" name="Freeform 25"/>
            <p:cNvSpPr/>
            <p:nvPr/>
          </p:nvSpPr>
          <p:spPr>
            <a:xfrm>
              <a:off x="0" y="0"/>
              <a:ext cx="3153029" cy="1425956"/>
            </a:xfrm>
            <a:custGeom>
              <a:avLst/>
              <a:gdLst/>
              <a:ahLst/>
              <a:cxnLst/>
              <a:rect l="l" t="t" r="r" b="b"/>
              <a:pathLst>
                <a:path w="3153029" h="1425956">
                  <a:moveTo>
                    <a:pt x="0" y="0"/>
                  </a:moveTo>
                  <a:lnTo>
                    <a:pt x="3153029" y="0"/>
                  </a:lnTo>
                  <a:lnTo>
                    <a:pt x="3153029" y="1425956"/>
                  </a:lnTo>
                  <a:lnTo>
                    <a:pt x="0" y="1425956"/>
                  </a:lnTo>
                  <a:lnTo>
                    <a:pt x="0" y="0"/>
                  </a:lnTo>
                  <a:close/>
                </a:path>
              </a:pathLst>
            </a:custGeom>
            <a:blipFill>
              <a:blip r:embed="rId5"/>
              <a:stretch>
                <a:fillRect t="-60558" b="-60557"/>
              </a:stretch>
            </a:blipFill>
          </p:spPr>
        </p:sp>
      </p:grpSp>
      <p:grpSp>
        <p:nvGrpSpPr>
          <p:cNvPr id="26" name="Group 26"/>
          <p:cNvGrpSpPr/>
          <p:nvPr/>
        </p:nvGrpSpPr>
        <p:grpSpPr>
          <a:xfrm>
            <a:off x="-72600" y="9972719"/>
            <a:ext cx="18433201" cy="38100"/>
            <a:chOff x="0" y="0"/>
            <a:chExt cx="24577601" cy="50800"/>
          </a:xfrm>
        </p:grpSpPr>
        <p:sp>
          <p:nvSpPr>
            <p:cNvPr id="27" name="Freeform 27"/>
            <p:cNvSpPr/>
            <p:nvPr/>
          </p:nvSpPr>
          <p:spPr>
            <a:xfrm>
              <a:off x="25400" y="0"/>
              <a:ext cx="24526748" cy="50800"/>
            </a:xfrm>
            <a:custGeom>
              <a:avLst/>
              <a:gdLst/>
              <a:ahLst/>
              <a:cxnLst/>
              <a:rect l="l" t="t" r="r" b="b"/>
              <a:pathLst>
                <a:path w="24526748" h="50800">
                  <a:moveTo>
                    <a:pt x="0" y="0"/>
                  </a:moveTo>
                  <a:lnTo>
                    <a:pt x="24526748" y="0"/>
                  </a:lnTo>
                  <a:lnTo>
                    <a:pt x="24526748" y="50800"/>
                  </a:lnTo>
                  <a:lnTo>
                    <a:pt x="0" y="50800"/>
                  </a:lnTo>
                  <a:close/>
                </a:path>
              </a:pathLst>
            </a:custGeom>
            <a:solidFill>
              <a:srgbClr val="2254C5"/>
            </a:solidFill>
          </p:spPr>
        </p:sp>
      </p:grpSp>
      <p:pic>
        <p:nvPicPr>
          <p:cNvPr id="28" name="Picture 27">
            <a:extLst>
              <a:ext uri="{FF2B5EF4-FFF2-40B4-BE49-F238E27FC236}">
                <a16:creationId xmlns:a16="http://schemas.microsoft.com/office/drawing/2014/main" id="{729095FD-7DCA-0B1E-6F16-79232E49C96A}"/>
              </a:ext>
            </a:extLst>
          </p:cNvPr>
          <p:cNvPicPr>
            <a:picLocks noChangeAspect="1"/>
          </p:cNvPicPr>
          <p:nvPr/>
        </p:nvPicPr>
        <p:blipFill>
          <a:blip r:embed="rId6"/>
          <a:stretch>
            <a:fillRect/>
          </a:stretch>
        </p:blipFill>
        <p:spPr>
          <a:xfrm>
            <a:off x="59191" y="2945266"/>
            <a:ext cx="9036503" cy="6268812"/>
          </a:xfrm>
          <a:prstGeom prst="rect">
            <a:avLst/>
          </a:prstGeom>
        </p:spPr>
      </p:pic>
      <p:pic>
        <p:nvPicPr>
          <p:cNvPr id="29" name="Picture 28">
            <a:extLst>
              <a:ext uri="{FF2B5EF4-FFF2-40B4-BE49-F238E27FC236}">
                <a16:creationId xmlns:a16="http://schemas.microsoft.com/office/drawing/2014/main" id="{123A6890-AAD2-F850-09CD-10C49143A064}"/>
              </a:ext>
            </a:extLst>
          </p:cNvPr>
          <p:cNvPicPr>
            <a:picLocks noChangeAspect="1"/>
          </p:cNvPicPr>
          <p:nvPr/>
        </p:nvPicPr>
        <p:blipFill>
          <a:blip r:embed="rId7"/>
          <a:stretch>
            <a:fillRect/>
          </a:stretch>
        </p:blipFill>
        <p:spPr>
          <a:xfrm>
            <a:off x="9912804" y="2349952"/>
            <a:ext cx="7617276" cy="3954237"/>
          </a:xfrm>
          <a:prstGeom prst="rect">
            <a:avLst/>
          </a:prstGeom>
        </p:spPr>
      </p:pic>
      <p:pic>
        <p:nvPicPr>
          <p:cNvPr id="30" name="Picture 29">
            <a:extLst>
              <a:ext uri="{FF2B5EF4-FFF2-40B4-BE49-F238E27FC236}">
                <a16:creationId xmlns:a16="http://schemas.microsoft.com/office/drawing/2014/main" id="{29A4EA3B-1FD0-D728-E9B0-0EE1492FE18D}"/>
              </a:ext>
            </a:extLst>
          </p:cNvPr>
          <p:cNvPicPr>
            <a:picLocks noChangeAspect="1"/>
          </p:cNvPicPr>
          <p:nvPr/>
        </p:nvPicPr>
        <p:blipFill>
          <a:blip r:embed="rId8"/>
          <a:stretch>
            <a:fillRect/>
          </a:stretch>
        </p:blipFill>
        <p:spPr>
          <a:xfrm>
            <a:off x="9351509" y="6431416"/>
            <a:ext cx="4374698" cy="2823482"/>
          </a:xfrm>
          <a:prstGeom prst="rect">
            <a:avLst/>
          </a:prstGeom>
        </p:spPr>
      </p:pic>
      <p:pic>
        <p:nvPicPr>
          <p:cNvPr id="31" name="Picture 30">
            <a:extLst>
              <a:ext uri="{FF2B5EF4-FFF2-40B4-BE49-F238E27FC236}">
                <a16:creationId xmlns:a16="http://schemas.microsoft.com/office/drawing/2014/main" id="{130D4813-C6CE-581D-477E-6BAE4392663B}"/>
              </a:ext>
            </a:extLst>
          </p:cNvPr>
          <p:cNvPicPr>
            <a:picLocks noChangeAspect="1"/>
          </p:cNvPicPr>
          <p:nvPr/>
        </p:nvPicPr>
        <p:blipFill>
          <a:blip r:embed="rId9"/>
          <a:stretch>
            <a:fillRect/>
          </a:stretch>
        </p:blipFill>
        <p:spPr>
          <a:xfrm>
            <a:off x="13745256" y="6432095"/>
            <a:ext cx="4513490" cy="28547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1835774" y="619244"/>
            <a:ext cx="6466514" cy="28575"/>
            <a:chOff x="0" y="0"/>
            <a:chExt cx="8622019" cy="38100"/>
          </a:xfrm>
        </p:grpSpPr>
        <p:sp>
          <p:nvSpPr>
            <p:cNvPr id="4" name="Freeform 4"/>
            <p:cNvSpPr/>
            <p:nvPr/>
          </p:nvSpPr>
          <p:spPr>
            <a:xfrm>
              <a:off x="19050" y="0"/>
              <a:ext cx="8583930" cy="38100"/>
            </a:xfrm>
            <a:custGeom>
              <a:avLst/>
              <a:gdLst/>
              <a:ahLst/>
              <a:cxnLst/>
              <a:rect l="l" t="t" r="r" b="b"/>
              <a:pathLst>
                <a:path w="8583930" h="38100">
                  <a:moveTo>
                    <a:pt x="0" y="0"/>
                  </a:moveTo>
                  <a:lnTo>
                    <a:pt x="8583930" y="0"/>
                  </a:lnTo>
                  <a:lnTo>
                    <a:pt x="8583930" y="38100"/>
                  </a:lnTo>
                  <a:lnTo>
                    <a:pt x="0" y="38100"/>
                  </a:lnTo>
                  <a:close/>
                </a:path>
              </a:pathLst>
            </a:custGeom>
            <a:solidFill>
              <a:srgbClr val="2254C5"/>
            </a:solidFill>
          </p:spPr>
        </p:sp>
      </p:grpSp>
      <p:grpSp>
        <p:nvGrpSpPr>
          <p:cNvPr id="5" name="Group 5"/>
          <p:cNvGrpSpPr/>
          <p:nvPr/>
        </p:nvGrpSpPr>
        <p:grpSpPr>
          <a:xfrm>
            <a:off x="7242117" y="1567858"/>
            <a:ext cx="33544" cy="7591101"/>
            <a:chOff x="0" y="0"/>
            <a:chExt cx="38100" cy="8622019"/>
          </a:xfrm>
        </p:grpSpPr>
        <p:sp>
          <p:nvSpPr>
            <p:cNvPr id="6" name="Freeform 6"/>
            <p:cNvSpPr/>
            <p:nvPr/>
          </p:nvSpPr>
          <p:spPr>
            <a:xfrm>
              <a:off x="0" y="19050"/>
              <a:ext cx="38100" cy="8583930"/>
            </a:xfrm>
            <a:custGeom>
              <a:avLst/>
              <a:gdLst/>
              <a:ahLst/>
              <a:cxnLst/>
              <a:rect l="l" t="t" r="r" b="b"/>
              <a:pathLst>
                <a:path w="38100" h="8583930">
                  <a:moveTo>
                    <a:pt x="38100" y="0"/>
                  </a:moveTo>
                  <a:lnTo>
                    <a:pt x="38100" y="8583930"/>
                  </a:lnTo>
                  <a:lnTo>
                    <a:pt x="0" y="8583930"/>
                  </a:lnTo>
                  <a:lnTo>
                    <a:pt x="0" y="0"/>
                  </a:lnTo>
                  <a:close/>
                </a:path>
              </a:pathLst>
            </a:custGeom>
            <a:solidFill>
              <a:srgbClr val="2254C5"/>
            </a:solidFill>
          </p:spPr>
        </p:sp>
      </p:grpSp>
      <p:sp>
        <p:nvSpPr>
          <p:cNvPr id="7" name="TextBox 7"/>
          <p:cNvSpPr txBox="1"/>
          <p:nvPr/>
        </p:nvSpPr>
        <p:spPr>
          <a:xfrm>
            <a:off x="608551" y="1878053"/>
            <a:ext cx="4466326" cy="2344093"/>
          </a:xfrm>
          <a:prstGeom prst="rect">
            <a:avLst/>
          </a:prstGeom>
        </p:spPr>
        <p:txBody>
          <a:bodyPr lIns="0" tIns="0" rIns="0" bIns="0" rtlCol="0" anchor="t">
            <a:spAutoFit/>
          </a:bodyPr>
          <a:lstStyle/>
          <a:p>
            <a:pPr algn="l">
              <a:lnSpc>
                <a:spcPts val="9391"/>
              </a:lnSpc>
            </a:pPr>
            <a:r>
              <a:rPr lang="en-US" sz="6708" b="1">
                <a:solidFill>
                  <a:srgbClr val="2254C5"/>
                </a:solidFill>
                <a:latin typeface="Montserrat Bold"/>
                <a:ea typeface="Montserrat Bold"/>
                <a:cs typeface="Montserrat Bold"/>
                <a:sym typeface="Montserrat Bold"/>
              </a:rPr>
              <a:t>Our Trainings</a:t>
            </a:r>
          </a:p>
        </p:txBody>
      </p:sp>
      <p:sp>
        <p:nvSpPr>
          <p:cNvPr id="8" name="TextBox 8"/>
          <p:cNvSpPr txBox="1"/>
          <p:nvPr/>
        </p:nvSpPr>
        <p:spPr>
          <a:xfrm>
            <a:off x="7760497" y="1359519"/>
            <a:ext cx="6376989" cy="539266"/>
          </a:xfrm>
          <a:prstGeom prst="rect">
            <a:avLst/>
          </a:prstGeom>
        </p:spPr>
        <p:txBody>
          <a:bodyPr lIns="0" tIns="0" rIns="0" bIns="0" rtlCol="0" anchor="t">
            <a:spAutoFit/>
          </a:bodyPr>
          <a:lstStyle/>
          <a:p>
            <a:pPr algn="l">
              <a:lnSpc>
                <a:spcPts val="4407"/>
              </a:lnSpc>
            </a:pPr>
            <a:r>
              <a:rPr lang="en-US" sz="3147" b="1">
                <a:solidFill>
                  <a:srgbClr val="2254C5"/>
                </a:solidFill>
                <a:latin typeface="Montserrat Bold"/>
                <a:ea typeface="Montserrat Bold"/>
                <a:cs typeface="Montserrat Bold"/>
                <a:sym typeface="Montserrat Bold"/>
              </a:rPr>
              <a:t>SKIES-KIEP Rapid Tech Skills </a:t>
            </a:r>
          </a:p>
        </p:txBody>
      </p:sp>
      <p:sp>
        <p:nvSpPr>
          <p:cNvPr id="9" name="TextBox 9"/>
          <p:cNvSpPr txBox="1"/>
          <p:nvPr/>
        </p:nvSpPr>
        <p:spPr>
          <a:xfrm>
            <a:off x="7760497" y="2223351"/>
            <a:ext cx="9498803" cy="2388463"/>
          </a:xfrm>
          <a:prstGeom prst="rect">
            <a:avLst/>
          </a:prstGeom>
        </p:spPr>
        <p:txBody>
          <a:bodyPr lIns="0" tIns="0" rIns="0" bIns="0" rtlCol="0" anchor="t">
            <a:spAutoFit/>
          </a:bodyPr>
          <a:lstStyle/>
          <a:p>
            <a:pPr algn="just">
              <a:lnSpc>
                <a:spcPts val="2756"/>
              </a:lnSpc>
            </a:pPr>
            <a:r>
              <a:rPr lang="en-US" sz="1969">
                <a:solidFill>
                  <a:srgbClr val="2254C5"/>
                </a:solidFill>
                <a:latin typeface="Atkinson Hyperlegible"/>
                <a:ea typeface="Atkinson Hyperlegible"/>
                <a:cs typeface="Atkinson Hyperlegible"/>
                <a:sym typeface="Atkinson Hyperlegible"/>
              </a:rPr>
              <a:t>JHUB Africa’s KIEP-SKIES Rapid Tech Skills training at JKUAT equipS participants with skills in Digital Literacy, Tech Entrepreneurship, Software Development, Data Science, Digital Marketing, and Cybersecurity. The program aims to empower individuals for success in the digital economy. Trainees gain hands-on experience and practical knowledge in these high-demand fields. It is funded by World Bank and implemented through the Ministry of Investments, Trade &amp; Industry and E4Impact Entrepreneurship Centre, Kenya.</a:t>
            </a:r>
          </a:p>
        </p:txBody>
      </p:sp>
      <p:sp>
        <p:nvSpPr>
          <p:cNvPr id="10" name="TextBox 10"/>
          <p:cNvSpPr txBox="1"/>
          <p:nvPr/>
        </p:nvSpPr>
        <p:spPr>
          <a:xfrm>
            <a:off x="7760497" y="4857605"/>
            <a:ext cx="7013547" cy="506244"/>
          </a:xfrm>
          <a:prstGeom prst="rect">
            <a:avLst/>
          </a:prstGeom>
        </p:spPr>
        <p:txBody>
          <a:bodyPr lIns="0" tIns="0" rIns="0" bIns="0" rtlCol="0" anchor="t">
            <a:spAutoFit/>
          </a:bodyPr>
          <a:lstStyle/>
          <a:p>
            <a:pPr algn="l">
              <a:lnSpc>
                <a:spcPts val="4127"/>
              </a:lnSpc>
            </a:pPr>
            <a:r>
              <a:rPr lang="en-US" sz="2948" b="1">
                <a:solidFill>
                  <a:srgbClr val="2254C5"/>
                </a:solidFill>
                <a:latin typeface="Montserrat Bold"/>
                <a:ea typeface="Montserrat Bold"/>
                <a:cs typeface="Montserrat Bold"/>
                <a:sym typeface="Montserrat Bold"/>
              </a:rPr>
              <a:t>ZOHO Young Creators Program</a:t>
            </a:r>
          </a:p>
        </p:txBody>
      </p:sp>
      <p:sp>
        <p:nvSpPr>
          <p:cNvPr id="11" name="TextBox 11"/>
          <p:cNvSpPr txBox="1"/>
          <p:nvPr/>
        </p:nvSpPr>
        <p:spPr>
          <a:xfrm>
            <a:off x="7760497" y="5535875"/>
            <a:ext cx="9498803" cy="1397838"/>
          </a:xfrm>
          <a:prstGeom prst="rect">
            <a:avLst/>
          </a:prstGeom>
        </p:spPr>
        <p:txBody>
          <a:bodyPr lIns="0" tIns="0" rIns="0" bIns="0" rtlCol="0" anchor="t">
            <a:spAutoFit/>
          </a:bodyPr>
          <a:lstStyle/>
          <a:p>
            <a:pPr algn="just">
              <a:lnSpc>
                <a:spcPts val="2756"/>
              </a:lnSpc>
            </a:pPr>
            <a:r>
              <a:rPr lang="en-US" sz="1969">
                <a:solidFill>
                  <a:srgbClr val="2254C5"/>
                </a:solidFill>
                <a:latin typeface="Atkinson Hyperlegible"/>
                <a:ea typeface="Atkinson Hyperlegible"/>
                <a:cs typeface="Atkinson Hyperlegible"/>
                <a:sym typeface="Atkinson Hyperlegible"/>
              </a:rPr>
              <a:t>JHUB Africa, in partnership with ZOHO, hosted a low-code application development training at JKUAT for 28 students. This initiative supports the skilling agenda, empowering young people with valuable tech skills to enhance their career opportunities.</a:t>
            </a:r>
          </a:p>
        </p:txBody>
      </p:sp>
      <p:sp>
        <p:nvSpPr>
          <p:cNvPr id="12" name="TextBox 12"/>
          <p:cNvSpPr txBox="1"/>
          <p:nvPr/>
        </p:nvSpPr>
        <p:spPr>
          <a:xfrm>
            <a:off x="7760497" y="7147026"/>
            <a:ext cx="9498803" cy="513081"/>
          </a:xfrm>
          <a:prstGeom prst="rect">
            <a:avLst/>
          </a:prstGeom>
        </p:spPr>
        <p:txBody>
          <a:bodyPr lIns="0" tIns="0" rIns="0" bIns="0" rtlCol="0" anchor="t">
            <a:spAutoFit/>
          </a:bodyPr>
          <a:lstStyle/>
          <a:p>
            <a:pPr algn="l">
              <a:lnSpc>
                <a:spcPts val="4267"/>
              </a:lnSpc>
            </a:pPr>
            <a:r>
              <a:rPr lang="en-US" sz="3048" b="1">
                <a:solidFill>
                  <a:srgbClr val="2254C5"/>
                </a:solidFill>
                <a:latin typeface="Montserrat Bold"/>
                <a:ea typeface="Montserrat Bold"/>
                <a:cs typeface="Montserrat Bold"/>
                <a:sym typeface="Montserrat Bold"/>
              </a:rPr>
              <a:t>Digital Skills for Innovators, Startups &amp; MSMEs</a:t>
            </a:r>
          </a:p>
        </p:txBody>
      </p:sp>
      <p:sp>
        <p:nvSpPr>
          <p:cNvPr id="13" name="TextBox 13"/>
          <p:cNvSpPr txBox="1"/>
          <p:nvPr/>
        </p:nvSpPr>
        <p:spPr>
          <a:xfrm>
            <a:off x="7760497" y="7761121"/>
            <a:ext cx="9498803" cy="1397838"/>
          </a:xfrm>
          <a:prstGeom prst="rect">
            <a:avLst/>
          </a:prstGeom>
        </p:spPr>
        <p:txBody>
          <a:bodyPr lIns="0" tIns="0" rIns="0" bIns="0" rtlCol="0" anchor="t">
            <a:spAutoFit/>
          </a:bodyPr>
          <a:lstStyle/>
          <a:p>
            <a:pPr algn="just">
              <a:lnSpc>
                <a:spcPts val="2756"/>
              </a:lnSpc>
            </a:pPr>
            <a:r>
              <a:rPr lang="en-US" sz="1969">
                <a:solidFill>
                  <a:srgbClr val="2254C5"/>
                </a:solidFill>
                <a:latin typeface="Atkinson Hyperlegible"/>
                <a:ea typeface="Atkinson Hyperlegible"/>
                <a:cs typeface="Atkinson Hyperlegible"/>
                <a:sym typeface="Atkinson Hyperlegible"/>
              </a:rPr>
              <a:t>JHUB, in partnership with gDIH Kenya, is training 120 MSMEs, startups, and innovators on agriculture-based digital technologies to boost productivity and innovation. The program promotes digital skills and technology adoption, ensuring relevance through local expertise.</a:t>
            </a:r>
          </a:p>
        </p:txBody>
      </p:sp>
      <p:grpSp>
        <p:nvGrpSpPr>
          <p:cNvPr id="14" name="Group 14"/>
          <p:cNvGrpSpPr/>
          <p:nvPr/>
        </p:nvGrpSpPr>
        <p:grpSpPr>
          <a:xfrm>
            <a:off x="314874" y="4708467"/>
            <a:ext cx="6675736" cy="4450491"/>
            <a:chOff x="0" y="0"/>
            <a:chExt cx="8591119" cy="5727413"/>
          </a:xfrm>
        </p:grpSpPr>
        <p:sp>
          <p:nvSpPr>
            <p:cNvPr id="15" name="Freeform 15"/>
            <p:cNvSpPr/>
            <p:nvPr/>
          </p:nvSpPr>
          <p:spPr>
            <a:xfrm>
              <a:off x="0" y="0"/>
              <a:ext cx="8591169" cy="5727446"/>
            </a:xfrm>
            <a:custGeom>
              <a:avLst/>
              <a:gdLst/>
              <a:ahLst/>
              <a:cxnLst/>
              <a:rect l="l" t="t" r="r" b="b"/>
              <a:pathLst>
                <a:path w="8591169" h="5727446">
                  <a:moveTo>
                    <a:pt x="0" y="0"/>
                  </a:moveTo>
                  <a:lnTo>
                    <a:pt x="8591169" y="0"/>
                  </a:lnTo>
                  <a:lnTo>
                    <a:pt x="8591169" y="5727446"/>
                  </a:lnTo>
                  <a:lnTo>
                    <a:pt x="0" y="5727446"/>
                  </a:lnTo>
                  <a:lnTo>
                    <a:pt x="0" y="0"/>
                  </a:lnTo>
                  <a:close/>
                </a:path>
              </a:pathLst>
            </a:custGeom>
            <a:blipFill>
              <a:blip r:embed="rId3"/>
              <a:stretch>
                <a:fillRect l="-91" r="-91"/>
              </a:stretch>
            </a:blipFill>
          </p:spPr>
        </p:sp>
      </p:grpSp>
      <p:grpSp>
        <p:nvGrpSpPr>
          <p:cNvPr id="16" name="Group 16"/>
          <p:cNvGrpSpPr/>
          <p:nvPr/>
        </p:nvGrpSpPr>
        <p:grpSpPr>
          <a:xfrm>
            <a:off x="-72600" y="9972719"/>
            <a:ext cx="18433201" cy="38100"/>
            <a:chOff x="0" y="0"/>
            <a:chExt cx="24577601" cy="50800"/>
          </a:xfrm>
        </p:grpSpPr>
        <p:sp>
          <p:nvSpPr>
            <p:cNvPr id="17" name="Freeform 17"/>
            <p:cNvSpPr/>
            <p:nvPr/>
          </p:nvSpPr>
          <p:spPr>
            <a:xfrm>
              <a:off x="25400" y="0"/>
              <a:ext cx="24526748" cy="50800"/>
            </a:xfrm>
            <a:custGeom>
              <a:avLst/>
              <a:gdLst/>
              <a:ahLst/>
              <a:cxnLst/>
              <a:rect l="l" t="t" r="r" b="b"/>
              <a:pathLst>
                <a:path w="24526748" h="50800">
                  <a:moveTo>
                    <a:pt x="0" y="0"/>
                  </a:moveTo>
                  <a:lnTo>
                    <a:pt x="24526748" y="0"/>
                  </a:lnTo>
                  <a:lnTo>
                    <a:pt x="24526748" y="50800"/>
                  </a:lnTo>
                  <a:lnTo>
                    <a:pt x="0" y="50800"/>
                  </a:lnTo>
                  <a:close/>
                </a:path>
              </a:pathLst>
            </a:custGeom>
            <a:solidFill>
              <a:srgbClr val="2254C5"/>
            </a:solidFill>
          </p:spPr>
        </p:sp>
      </p:grpSp>
      <p:grpSp>
        <p:nvGrpSpPr>
          <p:cNvPr id="18" name="Group 18"/>
          <p:cNvGrpSpPr/>
          <p:nvPr/>
        </p:nvGrpSpPr>
        <p:grpSpPr>
          <a:xfrm>
            <a:off x="493970" y="600845"/>
            <a:ext cx="1069460" cy="1069460"/>
            <a:chOff x="0" y="0"/>
            <a:chExt cx="1425947" cy="1425947"/>
          </a:xfrm>
        </p:grpSpPr>
        <p:sp>
          <p:nvSpPr>
            <p:cNvPr id="19" name="Freeform 19"/>
            <p:cNvSpPr/>
            <p:nvPr/>
          </p:nvSpPr>
          <p:spPr>
            <a:xfrm>
              <a:off x="0" y="0"/>
              <a:ext cx="1425956" cy="1425956"/>
            </a:xfrm>
            <a:custGeom>
              <a:avLst/>
              <a:gdLst/>
              <a:ahLst/>
              <a:cxnLst/>
              <a:rect l="l" t="t" r="r" b="b"/>
              <a:pathLst>
                <a:path w="1425956" h="1425956">
                  <a:moveTo>
                    <a:pt x="0" y="0"/>
                  </a:moveTo>
                  <a:lnTo>
                    <a:pt x="1425956" y="0"/>
                  </a:lnTo>
                  <a:lnTo>
                    <a:pt x="1425956" y="1425956"/>
                  </a:lnTo>
                  <a:lnTo>
                    <a:pt x="0" y="1425956"/>
                  </a:lnTo>
                  <a:lnTo>
                    <a:pt x="0" y="0"/>
                  </a:lnTo>
                  <a:close/>
                </a:path>
              </a:pathLst>
            </a:custGeom>
            <a:blipFill>
              <a:blip r:embed="rId4"/>
              <a:stretch>
                <a:fillRect/>
              </a:stretch>
            </a:blipFill>
          </p:spPr>
        </p:sp>
      </p:grpSp>
      <p:grpSp>
        <p:nvGrpSpPr>
          <p:cNvPr id="20" name="Group 20"/>
          <p:cNvGrpSpPr/>
          <p:nvPr/>
        </p:nvGrpSpPr>
        <p:grpSpPr>
          <a:xfrm>
            <a:off x="1563430" y="600845"/>
            <a:ext cx="2364767" cy="1069460"/>
            <a:chOff x="0" y="0"/>
            <a:chExt cx="3153023" cy="1425947"/>
          </a:xfrm>
        </p:grpSpPr>
        <p:sp>
          <p:nvSpPr>
            <p:cNvPr id="21" name="Freeform 21"/>
            <p:cNvSpPr/>
            <p:nvPr/>
          </p:nvSpPr>
          <p:spPr>
            <a:xfrm>
              <a:off x="0" y="0"/>
              <a:ext cx="3153029" cy="1425956"/>
            </a:xfrm>
            <a:custGeom>
              <a:avLst/>
              <a:gdLst/>
              <a:ahLst/>
              <a:cxnLst/>
              <a:rect l="l" t="t" r="r" b="b"/>
              <a:pathLst>
                <a:path w="3153029" h="1425956">
                  <a:moveTo>
                    <a:pt x="0" y="0"/>
                  </a:moveTo>
                  <a:lnTo>
                    <a:pt x="3153029" y="0"/>
                  </a:lnTo>
                  <a:lnTo>
                    <a:pt x="3153029" y="1425956"/>
                  </a:lnTo>
                  <a:lnTo>
                    <a:pt x="0" y="1425956"/>
                  </a:lnTo>
                  <a:lnTo>
                    <a:pt x="0" y="0"/>
                  </a:lnTo>
                  <a:close/>
                </a:path>
              </a:pathLst>
            </a:custGeom>
            <a:blipFill>
              <a:blip r:embed="rId5"/>
              <a:stretch>
                <a:fillRect t="-60558" b="-60557"/>
              </a:stretch>
            </a:blipFill>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1835774" y="619244"/>
            <a:ext cx="6466514" cy="28575"/>
            <a:chOff x="0" y="0"/>
            <a:chExt cx="8622019" cy="38100"/>
          </a:xfrm>
        </p:grpSpPr>
        <p:sp>
          <p:nvSpPr>
            <p:cNvPr id="4" name="Freeform 4"/>
            <p:cNvSpPr/>
            <p:nvPr/>
          </p:nvSpPr>
          <p:spPr>
            <a:xfrm>
              <a:off x="19050" y="0"/>
              <a:ext cx="8583930" cy="38100"/>
            </a:xfrm>
            <a:custGeom>
              <a:avLst/>
              <a:gdLst/>
              <a:ahLst/>
              <a:cxnLst/>
              <a:rect l="l" t="t" r="r" b="b"/>
              <a:pathLst>
                <a:path w="8583930" h="38100">
                  <a:moveTo>
                    <a:pt x="0" y="0"/>
                  </a:moveTo>
                  <a:lnTo>
                    <a:pt x="8583930" y="0"/>
                  </a:lnTo>
                  <a:lnTo>
                    <a:pt x="8583930" y="38100"/>
                  </a:lnTo>
                  <a:lnTo>
                    <a:pt x="0" y="38100"/>
                  </a:lnTo>
                  <a:close/>
                </a:path>
              </a:pathLst>
            </a:custGeom>
            <a:solidFill>
              <a:srgbClr val="2254C5"/>
            </a:solidFill>
          </p:spPr>
        </p:sp>
      </p:grpSp>
      <p:sp>
        <p:nvSpPr>
          <p:cNvPr id="7" name="TextBox 7"/>
          <p:cNvSpPr txBox="1"/>
          <p:nvPr/>
        </p:nvSpPr>
        <p:spPr>
          <a:xfrm>
            <a:off x="1293516" y="2678384"/>
            <a:ext cx="7367414" cy="786044"/>
          </a:xfrm>
          <a:prstGeom prst="rect">
            <a:avLst/>
          </a:prstGeom>
        </p:spPr>
        <p:txBody>
          <a:bodyPr lIns="0" tIns="0" rIns="0" bIns="0" rtlCol="0" anchor="t">
            <a:spAutoFit/>
          </a:bodyPr>
          <a:lstStyle/>
          <a:p>
            <a:pPr algn="l">
              <a:lnSpc>
                <a:spcPts val="5809"/>
              </a:lnSpc>
            </a:pPr>
            <a:r>
              <a:rPr lang="en-US" sz="5927" b="1">
                <a:solidFill>
                  <a:srgbClr val="2254C5"/>
                </a:solidFill>
                <a:latin typeface="Montserrat Bold"/>
                <a:ea typeface="Montserrat Bold"/>
                <a:cs typeface="Montserrat Bold"/>
                <a:sym typeface="Montserrat Bold"/>
              </a:rPr>
              <a:t>Summary</a:t>
            </a:r>
          </a:p>
        </p:txBody>
      </p:sp>
      <p:sp>
        <p:nvSpPr>
          <p:cNvPr id="8" name="TextBox 8"/>
          <p:cNvSpPr txBox="1"/>
          <p:nvPr/>
        </p:nvSpPr>
        <p:spPr>
          <a:xfrm>
            <a:off x="1036180" y="3971697"/>
            <a:ext cx="5841580" cy="4156074"/>
          </a:xfrm>
          <a:prstGeom prst="rect">
            <a:avLst/>
          </a:prstGeom>
        </p:spPr>
        <p:txBody>
          <a:bodyPr wrap="square" lIns="0" tIns="0" rIns="0" bIns="0" rtlCol="0" anchor="t">
            <a:spAutoFit/>
          </a:bodyPr>
          <a:lstStyle/>
          <a:p>
            <a:pPr marL="367030" lvl="2">
              <a:lnSpc>
                <a:spcPts val="4090"/>
              </a:lnSpc>
            </a:pPr>
            <a:r>
              <a:rPr lang="en-US" sz="2400">
                <a:solidFill>
                  <a:srgbClr val="2254C5"/>
                </a:solidFill>
                <a:latin typeface="Atkinson Hyperlegible"/>
                <a:ea typeface="Atkinson Hyperlegible"/>
                <a:cs typeface="Atkinson Hyperlegible"/>
                <a:sym typeface="Atkinson Hyperlegible"/>
              </a:rPr>
              <a:t>1 </a:t>
            </a:r>
            <a:r>
              <a:rPr lang="en-US" sz="2400" dirty="0">
                <a:solidFill>
                  <a:srgbClr val="2254C5"/>
                </a:solidFill>
                <a:ea typeface="+mn-lt"/>
                <a:cs typeface="+mn-lt"/>
                <a:sym typeface="Atkinson Hyperlegible"/>
              </a:rPr>
              <a:t> </a:t>
            </a:r>
            <a:r>
              <a:rPr lang="en-US" sz="2400">
                <a:solidFill>
                  <a:srgbClr val="2254C5"/>
                </a:solidFill>
                <a:ea typeface="+mn-lt"/>
                <a:cs typeface="+mn-lt"/>
                <a:sym typeface="Atkinson Hyperlegible"/>
              </a:rPr>
              <a:t>Integrating GenAI and IoT into mushroom farming for precision agriculture</a:t>
            </a:r>
            <a:endParaRPr lang="en-US">
              <a:solidFill>
                <a:srgbClr val="000000"/>
              </a:solidFill>
              <a:ea typeface="+mn-lt"/>
              <a:cs typeface="+mn-lt"/>
            </a:endParaRPr>
          </a:p>
          <a:p>
            <a:pPr marL="367030" lvl="2">
              <a:lnSpc>
                <a:spcPts val="4090"/>
              </a:lnSpc>
            </a:pPr>
            <a:endParaRPr lang="en-US" sz="2400" dirty="0">
              <a:solidFill>
                <a:srgbClr val="2254C5"/>
              </a:solidFill>
              <a:latin typeface="Calibri"/>
              <a:ea typeface="Calibri"/>
              <a:cs typeface="Calibri"/>
            </a:endParaRPr>
          </a:p>
          <a:p>
            <a:pPr marL="367030" lvl="2">
              <a:lnSpc>
                <a:spcPts val="4090"/>
              </a:lnSpc>
            </a:pPr>
            <a:r>
              <a:rPr lang="en-US" sz="2400">
                <a:solidFill>
                  <a:srgbClr val="2254C5"/>
                </a:solidFill>
                <a:latin typeface="Atkinson Hyperlegible"/>
                <a:ea typeface="Atkinson Hyperlegible"/>
                <a:cs typeface="Atkinson Hyperlegible"/>
                <a:sym typeface="Atkinson Hyperlegible"/>
              </a:rPr>
              <a:t>2 </a:t>
            </a:r>
            <a:r>
              <a:rPr lang="en-US" sz="2400">
                <a:solidFill>
                  <a:srgbClr val="2254C5"/>
                </a:solidFill>
                <a:ea typeface="+mn-lt"/>
                <a:cs typeface="+mn-lt"/>
                <a:sym typeface="Atkinson Hyperlegible"/>
              </a:rPr>
              <a:t>Empowering 400+ farmers with digital tools and training</a:t>
            </a:r>
            <a:endParaRPr lang="en-US" sz="2400">
              <a:solidFill>
                <a:srgbClr val="2254C5"/>
              </a:solidFill>
              <a:ea typeface="+mn-lt"/>
              <a:cs typeface="+mn-lt"/>
            </a:endParaRPr>
          </a:p>
          <a:p>
            <a:pPr marL="367030" lvl="2">
              <a:lnSpc>
                <a:spcPts val="4090"/>
              </a:lnSpc>
            </a:pPr>
            <a:endParaRPr lang="en-US" sz="2400" dirty="0">
              <a:solidFill>
                <a:srgbClr val="2254C5"/>
              </a:solidFill>
              <a:latin typeface="Atkinson Hyperlegible"/>
              <a:ea typeface="Atkinson Hyperlegible"/>
              <a:cs typeface="Atkinson Hyperlegible"/>
            </a:endParaRPr>
          </a:p>
          <a:p>
            <a:pPr marL="367030" lvl="2">
              <a:lnSpc>
                <a:spcPts val="4090"/>
              </a:lnSpc>
            </a:pPr>
            <a:r>
              <a:rPr lang="en-US" sz="2400">
                <a:solidFill>
                  <a:srgbClr val="2254C5"/>
                </a:solidFill>
                <a:latin typeface="Atkinson Hyperlegible"/>
                <a:ea typeface="+mn-lt"/>
                <a:cs typeface="+mn-lt"/>
                <a:sym typeface="Atkinson Hyperlegible"/>
              </a:rPr>
              <a:t>3 </a:t>
            </a:r>
            <a:r>
              <a:rPr lang="en-US" sz="2400">
                <a:solidFill>
                  <a:srgbClr val="2254C5"/>
                </a:solidFill>
                <a:latin typeface="Calibri"/>
                <a:ea typeface="Calibri"/>
                <a:cs typeface="Calibri"/>
                <a:sym typeface="Atkinson Hyperlegible"/>
              </a:rPr>
              <a:t>Creating</a:t>
            </a:r>
            <a:r>
              <a:rPr lang="en-US" sz="2400">
                <a:solidFill>
                  <a:srgbClr val="2254C5"/>
                </a:solidFill>
                <a:ea typeface="+mn-lt"/>
                <a:cs typeface="+mn-lt"/>
                <a:sym typeface="Atkinson Hyperlegible"/>
              </a:rPr>
              <a:t> sustainable </a:t>
            </a:r>
            <a:r>
              <a:rPr lang="en-US" sz="2400" dirty="0">
                <a:solidFill>
                  <a:srgbClr val="2254C5"/>
                </a:solidFill>
                <a:ea typeface="+mn-lt"/>
                <a:cs typeface="+mn-lt"/>
                <a:sym typeface="Atkinson Hyperlegible"/>
              </a:rPr>
              <a:t>livelihoods while protecting Kenya's forests</a:t>
            </a:r>
            <a:endParaRPr lang="en-US" sz="2400" dirty="0">
              <a:solidFill>
                <a:srgbClr val="2254C5"/>
              </a:solidFill>
              <a:ea typeface="+mn-lt"/>
              <a:cs typeface="+mn-lt"/>
            </a:endParaRPr>
          </a:p>
        </p:txBody>
      </p:sp>
      <p:grpSp>
        <p:nvGrpSpPr>
          <p:cNvPr id="9" name="Group 9"/>
          <p:cNvGrpSpPr/>
          <p:nvPr/>
        </p:nvGrpSpPr>
        <p:grpSpPr>
          <a:xfrm>
            <a:off x="-72600" y="9972719"/>
            <a:ext cx="18433201" cy="38100"/>
            <a:chOff x="0" y="0"/>
            <a:chExt cx="24577601" cy="50800"/>
          </a:xfrm>
        </p:grpSpPr>
        <p:sp>
          <p:nvSpPr>
            <p:cNvPr id="10" name="Freeform 10"/>
            <p:cNvSpPr/>
            <p:nvPr/>
          </p:nvSpPr>
          <p:spPr>
            <a:xfrm>
              <a:off x="25400" y="0"/>
              <a:ext cx="24526748" cy="50800"/>
            </a:xfrm>
            <a:custGeom>
              <a:avLst/>
              <a:gdLst/>
              <a:ahLst/>
              <a:cxnLst/>
              <a:rect l="l" t="t" r="r" b="b"/>
              <a:pathLst>
                <a:path w="24526748" h="50800">
                  <a:moveTo>
                    <a:pt x="0" y="0"/>
                  </a:moveTo>
                  <a:lnTo>
                    <a:pt x="24526748" y="0"/>
                  </a:lnTo>
                  <a:lnTo>
                    <a:pt x="24526748" y="50800"/>
                  </a:lnTo>
                  <a:lnTo>
                    <a:pt x="0" y="50800"/>
                  </a:lnTo>
                  <a:close/>
                </a:path>
              </a:pathLst>
            </a:custGeom>
            <a:solidFill>
              <a:srgbClr val="2254C5"/>
            </a:solidFill>
          </p:spPr>
        </p:sp>
      </p:grpSp>
      <p:grpSp>
        <p:nvGrpSpPr>
          <p:cNvPr id="11" name="Group 11"/>
          <p:cNvGrpSpPr/>
          <p:nvPr/>
        </p:nvGrpSpPr>
        <p:grpSpPr>
          <a:xfrm>
            <a:off x="493970" y="600845"/>
            <a:ext cx="1069460" cy="1069460"/>
            <a:chOff x="0" y="0"/>
            <a:chExt cx="1425947" cy="1425947"/>
          </a:xfrm>
        </p:grpSpPr>
        <p:sp>
          <p:nvSpPr>
            <p:cNvPr id="12" name="Freeform 12"/>
            <p:cNvSpPr/>
            <p:nvPr/>
          </p:nvSpPr>
          <p:spPr>
            <a:xfrm>
              <a:off x="0" y="0"/>
              <a:ext cx="1425956" cy="1425956"/>
            </a:xfrm>
            <a:custGeom>
              <a:avLst/>
              <a:gdLst/>
              <a:ahLst/>
              <a:cxnLst/>
              <a:rect l="l" t="t" r="r" b="b"/>
              <a:pathLst>
                <a:path w="1425956" h="1425956">
                  <a:moveTo>
                    <a:pt x="0" y="0"/>
                  </a:moveTo>
                  <a:lnTo>
                    <a:pt x="1425956" y="0"/>
                  </a:lnTo>
                  <a:lnTo>
                    <a:pt x="1425956" y="1425956"/>
                  </a:lnTo>
                  <a:lnTo>
                    <a:pt x="0" y="1425956"/>
                  </a:lnTo>
                  <a:lnTo>
                    <a:pt x="0" y="0"/>
                  </a:lnTo>
                  <a:close/>
                </a:path>
              </a:pathLst>
            </a:custGeom>
            <a:blipFill>
              <a:blip r:embed="rId3"/>
              <a:stretch>
                <a:fillRect/>
              </a:stretch>
            </a:blipFill>
          </p:spPr>
        </p:sp>
      </p:grpSp>
      <p:grpSp>
        <p:nvGrpSpPr>
          <p:cNvPr id="13" name="Group 13"/>
          <p:cNvGrpSpPr/>
          <p:nvPr/>
        </p:nvGrpSpPr>
        <p:grpSpPr>
          <a:xfrm>
            <a:off x="1563430" y="600845"/>
            <a:ext cx="2364767" cy="1069460"/>
            <a:chOff x="0" y="0"/>
            <a:chExt cx="3153023" cy="1425947"/>
          </a:xfrm>
        </p:grpSpPr>
        <p:sp>
          <p:nvSpPr>
            <p:cNvPr id="14" name="Freeform 14"/>
            <p:cNvSpPr/>
            <p:nvPr/>
          </p:nvSpPr>
          <p:spPr>
            <a:xfrm>
              <a:off x="0" y="0"/>
              <a:ext cx="3153029" cy="1425956"/>
            </a:xfrm>
            <a:custGeom>
              <a:avLst/>
              <a:gdLst/>
              <a:ahLst/>
              <a:cxnLst/>
              <a:rect l="l" t="t" r="r" b="b"/>
              <a:pathLst>
                <a:path w="3153029" h="1425956">
                  <a:moveTo>
                    <a:pt x="0" y="0"/>
                  </a:moveTo>
                  <a:lnTo>
                    <a:pt x="3153029" y="0"/>
                  </a:lnTo>
                  <a:lnTo>
                    <a:pt x="3153029" y="1425956"/>
                  </a:lnTo>
                  <a:lnTo>
                    <a:pt x="0" y="1425956"/>
                  </a:lnTo>
                  <a:lnTo>
                    <a:pt x="0" y="0"/>
                  </a:lnTo>
                  <a:close/>
                </a:path>
              </a:pathLst>
            </a:custGeom>
            <a:blipFill>
              <a:blip r:embed="rId4"/>
              <a:stretch>
                <a:fillRect t="-60558" b="-60557"/>
              </a:stretch>
            </a:blipFill>
          </p:spPr>
        </p:sp>
      </p:grpSp>
      <p:pic>
        <p:nvPicPr>
          <p:cNvPr id="15" name="Picture 14">
            <a:extLst>
              <a:ext uri="{FF2B5EF4-FFF2-40B4-BE49-F238E27FC236}">
                <a16:creationId xmlns:a16="http://schemas.microsoft.com/office/drawing/2014/main" id="{0E4672DE-D706-787C-E6BC-321460A3E05E}"/>
              </a:ext>
            </a:extLst>
          </p:cNvPr>
          <p:cNvPicPr>
            <a:picLocks noChangeAspect="1"/>
          </p:cNvPicPr>
          <p:nvPr/>
        </p:nvPicPr>
        <p:blipFill>
          <a:blip r:embed="rId5"/>
          <a:stretch>
            <a:fillRect/>
          </a:stretch>
        </p:blipFill>
        <p:spPr>
          <a:xfrm>
            <a:off x="7441066" y="3070452"/>
            <a:ext cx="9915525" cy="537618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1835774" y="619244"/>
            <a:ext cx="6466514" cy="28575"/>
            <a:chOff x="0" y="0"/>
            <a:chExt cx="8622019" cy="38100"/>
          </a:xfrm>
        </p:grpSpPr>
        <p:sp>
          <p:nvSpPr>
            <p:cNvPr id="4" name="Freeform 4"/>
            <p:cNvSpPr/>
            <p:nvPr/>
          </p:nvSpPr>
          <p:spPr>
            <a:xfrm>
              <a:off x="19050" y="0"/>
              <a:ext cx="8583930" cy="38100"/>
            </a:xfrm>
            <a:custGeom>
              <a:avLst/>
              <a:gdLst/>
              <a:ahLst/>
              <a:cxnLst/>
              <a:rect l="l" t="t" r="r" b="b"/>
              <a:pathLst>
                <a:path w="8583930" h="38100">
                  <a:moveTo>
                    <a:pt x="0" y="0"/>
                  </a:moveTo>
                  <a:lnTo>
                    <a:pt x="8583930" y="0"/>
                  </a:lnTo>
                  <a:lnTo>
                    <a:pt x="8583930" y="38100"/>
                  </a:lnTo>
                  <a:lnTo>
                    <a:pt x="0" y="38100"/>
                  </a:lnTo>
                  <a:close/>
                </a:path>
              </a:pathLst>
            </a:custGeom>
            <a:solidFill>
              <a:srgbClr val="2254C5"/>
            </a:solidFill>
          </p:spPr>
        </p:sp>
      </p:grpSp>
      <p:sp>
        <p:nvSpPr>
          <p:cNvPr id="5" name="TextBox 5"/>
          <p:cNvSpPr txBox="1"/>
          <p:nvPr/>
        </p:nvSpPr>
        <p:spPr>
          <a:xfrm>
            <a:off x="3865618" y="3739313"/>
            <a:ext cx="10443779" cy="2488436"/>
          </a:xfrm>
          <a:prstGeom prst="rect">
            <a:avLst/>
          </a:prstGeom>
        </p:spPr>
        <p:txBody>
          <a:bodyPr lIns="0" tIns="0" rIns="0" bIns="0" rtlCol="0" anchor="t">
            <a:spAutoFit/>
          </a:bodyPr>
          <a:lstStyle/>
          <a:p>
            <a:pPr algn="l">
              <a:lnSpc>
                <a:spcPts val="20345"/>
              </a:lnSpc>
            </a:pPr>
            <a:r>
              <a:rPr lang="en-US" sz="14532" b="1">
                <a:solidFill>
                  <a:srgbClr val="2254C5"/>
                </a:solidFill>
                <a:latin typeface="Montserrat Bold"/>
                <a:ea typeface="Montserrat Bold"/>
                <a:cs typeface="Montserrat Bold"/>
                <a:sym typeface="Montserrat Bold"/>
              </a:rPr>
              <a:t>Thank You</a:t>
            </a:r>
          </a:p>
        </p:txBody>
      </p:sp>
      <p:grpSp>
        <p:nvGrpSpPr>
          <p:cNvPr id="6" name="Group 6"/>
          <p:cNvGrpSpPr/>
          <p:nvPr/>
        </p:nvGrpSpPr>
        <p:grpSpPr>
          <a:xfrm>
            <a:off x="-72600" y="9972719"/>
            <a:ext cx="18433201" cy="38100"/>
            <a:chOff x="0" y="0"/>
            <a:chExt cx="24577601" cy="50800"/>
          </a:xfrm>
        </p:grpSpPr>
        <p:sp>
          <p:nvSpPr>
            <p:cNvPr id="7" name="Freeform 7"/>
            <p:cNvSpPr/>
            <p:nvPr/>
          </p:nvSpPr>
          <p:spPr>
            <a:xfrm>
              <a:off x="25400" y="0"/>
              <a:ext cx="24526748" cy="50800"/>
            </a:xfrm>
            <a:custGeom>
              <a:avLst/>
              <a:gdLst/>
              <a:ahLst/>
              <a:cxnLst/>
              <a:rect l="l" t="t" r="r" b="b"/>
              <a:pathLst>
                <a:path w="24526748" h="50800">
                  <a:moveTo>
                    <a:pt x="0" y="0"/>
                  </a:moveTo>
                  <a:lnTo>
                    <a:pt x="24526748" y="0"/>
                  </a:lnTo>
                  <a:lnTo>
                    <a:pt x="24526748" y="50800"/>
                  </a:lnTo>
                  <a:lnTo>
                    <a:pt x="0" y="50800"/>
                  </a:lnTo>
                  <a:close/>
                </a:path>
              </a:pathLst>
            </a:custGeom>
            <a:solidFill>
              <a:srgbClr val="2254C5"/>
            </a:solidFill>
          </p:spPr>
        </p:sp>
      </p:grpSp>
      <p:grpSp>
        <p:nvGrpSpPr>
          <p:cNvPr id="8" name="Group 8"/>
          <p:cNvGrpSpPr/>
          <p:nvPr/>
        </p:nvGrpSpPr>
        <p:grpSpPr>
          <a:xfrm>
            <a:off x="493970" y="600845"/>
            <a:ext cx="1069460" cy="1069460"/>
            <a:chOff x="0" y="0"/>
            <a:chExt cx="1425947" cy="1425947"/>
          </a:xfrm>
        </p:grpSpPr>
        <p:sp>
          <p:nvSpPr>
            <p:cNvPr id="9" name="Freeform 9"/>
            <p:cNvSpPr/>
            <p:nvPr/>
          </p:nvSpPr>
          <p:spPr>
            <a:xfrm>
              <a:off x="0" y="0"/>
              <a:ext cx="1425956" cy="1425956"/>
            </a:xfrm>
            <a:custGeom>
              <a:avLst/>
              <a:gdLst/>
              <a:ahLst/>
              <a:cxnLst/>
              <a:rect l="l" t="t" r="r" b="b"/>
              <a:pathLst>
                <a:path w="1425956" h="1425956">
                  <a:moveTo>
                    <a:pt x="0" y="0"/>
                  </a:moveTo>
                  <a:lnTo>
                    <a:pt x="1425956" y="0"/>
                  </a:lnTo>
                  <a:lnTo>
                    <a:pt x="1425956" y="1425956"/>
                  </a:lnTo>
                  <a:lnTo>
                    <a:pt x="0" y="1425956"/>
                  </a:lnTo>
                  <a:lnTo>
                    <a:pt x="0" y="0"/>
                  </a:lnTo>
                  <a:close/>
                </a:path>
              </a:pathLst>
            </a:custGeom>
            <a:blipFill>
              <a:blip r:embed="rId3"/>
              <a:stretch>
                <a:fillRect/>
              </a:stretch>
            </a:blipFill>
          </p:spPr>
        </p:sp>
      </p:grpSp>
      <p:grpSp>
        <p:nvGrpSpPr>
          <p:cNvPr id="10" name="Group 10"/>
          <p:cNvGrpSpPr/>
          <p:nvPr/>
        </p:nvGrpSpPr>
        <p:grpSpPr>
          <a:xfrm>
            <a:off x="1563430" y="600845"/>
            <a:ext cx="2364767" cy="1069460"/>
            <a:chOff x="0" y="0"/>
            <a:chExt cx="3153023" cy="1425947"/>
          </a:xfrm>
        </p:grpSpPr>
        <p:sp>
          <p:nvSpPr>
            <p:cNvPr id="11" name="Freeform 11"/>
            <p:cNvSpPr/>
            <p:nvPr/>
          </p:nvSpPr>
          <p:spPr>
            <a:xfrm>
              <a:off x="0" y="0"/>
              <a:ext cx="3153029" cy="1425956"/>
            </a:xfrm>
            <a:custGeom>
              <a:avLst/>
              <a:gdLst/>
              <a:ahLst/>
              <a:cxnLst/>
              <a:rect l="l" t="t" r="r" b="b"/>
              <a:pathLst>
                <a:path w="3153029" h="1425956">
                  <a:moveTo>
                    <a:pt x="0" y="0"/>
                  </a:moveTo>
                  <a:lnTo>
                    <a:pt x="3153029" y="0"/>
                  </a:lnTo>
                  <a:lnTo>
                    <a:pt x="3153029" y="1425956"/>
                  </a:lnTo>
                  <a:lnTo>
                    <a:pt x="0" y="1425956"/>
                  </a:lnTo>
                  <a:lnTo>
                    <a:pt x="0" y="0"/>
                  </a:lnTo>
                  <a:close/>
                </a:path>
              </a:pathLst>
            </a:custGeom>
            <a:blipFill>
              <a:blip r:embed="rId4"/>
              <a:stretch>
                <a:fillRect t="-60558" b="-60557"/>
              </a:stretch>
            </a:blipFill>
          </p:spPr>
        </p:sp>
      </p:grpSp>
      <p:sp>
        <p:nvSpPr>
          <p:cNvPr id="12" name="TextBox 12"/>
          <p:cNvSpPr txBox="1"/>
          <p:nvPr/>
        </p:nvSpPr>
        <p:spPr>
          <a:xfrm>
            <a:off x="8126028" y="7514678"/>
            <a:ext cx="1822371" cy="527231"/>
          </a:xfrm>
          <a:prstGeom prst="rect">
            <a:avLst/>
          </a:prstGeom>
        </p:spPr>
        <p:txBody>
          <a:bodyPr lIns="0" tIns="0" rIns="0" bIns="0" rtlCol="0" anchor="t">
            <a:spAutoFit/>
          </a:bodyPr>
          <a:lstStyle/>
          <a:p>
            <a:pPr algn="l">
              <a:lnSpc>
                <a:spcPts val="4386"/>
              </a:lnSpc>
            </a:pPr>
            <a:r>
              <a:rPr lang="en-US" sz="3132" b="1">
                <a:solidFill>
                  <a:srgbClr val="2254C5"/>
                </a:solidFill>
                <a:latin typeface="Montserrat Bold"/>
                <a:ea typeface="Montserrat Bold"/>
                <a:cs typeface="Montserrat Bold"/>
                <a:sym typeface="Montserrat Bold"/>
              </a:rPr>
              <a:t>Address</a:t>
            </a:r>
          </a:p>
        </p:txBody>
      </p:sp>
      <p:sp>
        <p:nvSpPr>
          <p:cNvPr id="13" name="TextBox 13"/>
          <p:cNvSpPr txBox="1"/>
          <p:nvPr/>
        </p:nvSpPr>
        <p:spPr>
          <a:xfrm>
            <a:off x="6867364" y="8217147"/>
            <a:ext cx="5122488" cy="424796"/>
          </a:xfrm>
          <a:prstGeom prst="rect">
            <a:avLst/>
          </a:prstGeom>
        </p:spPr>
        <p:txBody>
          <a:bodyPr lIns="0" tIns="0" rIns="0" bIns="0" rtlCol="0" anchor="t">
            <a:spAutoFit/>
          </a:bodyPr>
          <a:lstStyle/>
          <a:p>
            <a:pPr>
              <a:lnSpc>
                <a:spcPts val="3461"/>
              </a:lnSpc>
            </a:pPr>
            <a:r>
              <a:rPr lang="en-US" sz="2450">
                <a:solidFill>
                  <a:srgbClr val="2254C5"/>
                </a:solidFill>
                <a:latin typeface="Atkinson Hyperlegible"/>
                <a:ea typeface="Atkinson Hyperlegible"/>
                <a:cs typeface="Atkinson Hyperlegible"/>
                <a:sym typeface="Atkinson Hyperlegible"/>
              </a:rPr>
              <a:t>P.o.Box </a:t>
            </a:r>
            <a:r>
              <a:rPr lang="en-US" sz="2450">
                <a:solidFill>
                  <a:srgbClr val="2254C5"/>
                </a:solidFill>
                <a:ea typeface="+mn-lt"/>
                <a:cs typeface="+mn-lt"/>
                <a:sym typeface="Atkinson Hyperlegible"/>
              </a:rPr>
              <a:t>62000-00200, Nairobi, Kenya.</a:t>
            </a:r>
            <a:endParaRPr lang="en-US" sz="2450">
              <a:solidFill>
                <a:srgbClr val="2254C5"/>
              </a:solidFill>
              <a:ea typeface="+mn-lt"/>
              <a:cs typeface="+mn-lt"/>
            </a:endParaRPr>
          </a:p>
        </p:txBody>
      </p:sp>
      <p:sp>
        <p:nvSpPr>
          <p:cNvPr id="14" name="TextBox 14"/>
          <p:cNvSpPr txBox="1"/>
          <p:nvPr/>
        </p:nvSpPr>
        <p:spPr>
          <a:xfrm>
            <a:off x="3066752" y="7514678"/>
            <a:ext cx="1289670" cy="527231"/>
          </a:xfrm>
          <a:prstGeom prst="rect">
            <a:avLst/>
          </a:prstGeom>
        </p:spPr>
        <p:txBody>
          <a:bodyPr lIns="0" tIns="0" rIns="0" bIns="0" rtlCol="0" anchor="t">
            <a:spAutoFit/>
          </a:bodyPr>
          <a:lstStyle/>
          <a:p>
            <a:pPr algn="l">
              <a:lnSpc>
                <a:spcPts val="4386"/>
              </a:lnSpc>
            </a:pPr>
            <a:r>
              <a:rPr lang="en-US" sz="3132" b="1">
                <a:solidFill>
                  <a:srgbClr val="2254C5"/>
                </a:solidFill>
                <a:latin typeface="Montserrat Bold"/>
                <a:ea typeface="Montserrat Bold"/>
                <a:cs typeface="Montserrat Bold"/>
                <a:sym typeface="Montserrat Bold"/>
              </a:rPr>
              <a:t>Email</a:t>
            </a:r>
          </a:p>
        </p:txBody>
      </p:sp>
      <p:sp>
        <p:nvSpPr>
          <p:cNvPr id="15" name="TextBox 15"/>
          <p:cNvSpPr txBox="1"/>
          <p:nvPr/>
        </p:nvSpPr>
        <p:spPr>
          <a:xfrm>
            <a:off x="2313991" y="8228931"/>
            <a:ext cx="2985393" cy="419602"/>
          </a:xfrm>
          <a:prstGeom prst="rect">
            <a:avLst/>
          </a:prstGeom>
        </p:spPr>
        <p:txBody>
          <a:bodyPr lIns="0" tIns="0" rIns="0" bIns="0" rtlCol="0" anchor="t">
            <a:spAutoFit/>
          </a:bodyPr>
          <a:lstStyle/>
          <a:p>
            <a:pPr algn="l">
              <a:lnSpc>
                <a:spcPts val="3461"/>
              </a:lnSpc>
            </a:pPr>
            <a:r>
              <a:rPr lang="en-US" sz="2450">
                <a:solidFill>
                  <a:srgbClr val="2254C5"/>
                </a:solidFill>
                <a:ea typeface="+mn-lt"/>
                <a:cs typeface="+mn-lt"/>
                <a:sym typeface="Atkinson Hyperlegible"/>
              </a:rPr>
              <a:t>info.jhub@jkuat.ac.ke</a:t>
            </a:r>
            <a:endParaRPr lang="en-US">
              <a:ea typeface="+mn-lt"/>
              <a:cs typeface="+mn-lt"/>
            </a:endParaRPr>
          </a:p>
        </p:txBody>
      </p:sp>
      <p:sp>
        <p:nvSpPr>
          <p:cNvPr id="16" name="TextBox 16"/>
          <p:cNvSpPr txBox="1"/>
          <p:nvPr/>
        </p:nvSpPr>
        <p:spPr>
          <a:xfrm>
            <a:off x="13413534" y="7514678"/>
            <a:ext cx="1820693" cy="527231"/>
          </a:xfrm>
          <a:prstGeom prst="rect">
            <a:avLst/>
          </a:prstGeom>
        </p:spPr>
        <p:txBody>
          <a:bodyPr lIns="0" tIns="0" rIns="0" bIns="0" rtlCol="0" anchor="t">
            <a:spAutoFit/>
          </a:bodyPr>
          <a:lstStyle/>
          <a:p>
            <a:pPr algn="l">
              <a:lnSpc>
                <a:spcPts val="4386"/>
              </a:lnSpc>
            </a:pPr>
            <a:r>
              <a:rPr lang="en-US" sz="3132" b="1">
                <a:solidFill>
                  <a:srgbClr val="2254C5"/>
                </a:solidFill>
                <a:latin typeface="Montserrat Bold"/>
                <a:ea typeface="Montserrat Bold"/>
                <a:cs typeface="Montserrat Bold"/>
                <a:sym typeface="Montserrat Bold"/>
              </a:rPr>
              <a:t>Website</a:t>
            </a:r>
          </a:p>
        </p:txBody>
      </p:sp>
      <p:sp>
        <p:nvSpPr>
          <p:cNvPr id="17" name="TextBox 17"/>
          <p:cNvSpPr txBox="1"/>
          <p:nvPr/>
        </p:nvSpPr>
        <p:spPr>
          <a:xfrm>
            <a:off x="13071664" y="8228931"/>
            <a:ext cx="3381316" cy="419602"/>
          </a:xfrm>
          <a:prstGeom prst="rect">
            <a:avLst/>
          </a:prstGeom>
        </p:spPr>
        <p:txBody>
          <a:bodyPr wrap="square" lIns="0" tIns="0" rIns="0" bIns="0" rtlCol="0" anchor="t">
            <a:spAutoFit/>
          </a:bodyPr>
          <a:lstStyle/>
          <a:p>
            <a:pPr algn="l">
              <a:lnSpc>
                <a:spcPts val="3461"/>
              </a:lnSpc>
            </a:pPr>
            <a:r>
              <a:rPr lang="en-US" sz="2450" dirty="0">
                <a:solidFill>
                  <a:srgbClr val="2254C5"/>
                </a:solidFill>
                <a:ea typeface="+mn-lt"/>
                <a:cs typeface="+mn-lt"/>
                <a:sym typeface="Atkinson Hyperlegible"/>
              </a:rPr>
              <a:t>https://jhubafrica.com/</a:t>
            </a:r>
            <a:endParaRPr lang="en-US" dirty="0">
              <a:ea typeface="+mn-lt"/>
              <a:cs typeface="+mn-l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dc:title>
  <cp:revision>267</cp:revision>
  <dcterms:created xsi:type="dcterms:W3CDTF">2006-08-16T00:00:00Z</dcterms:created>
  <dcterms:modified xsi:type="dcterms:W3CDTF">2026-07-06T16:09:21Z</dcterms:modified>
  <dc:identifier>DAHOmB5WH-8</dc:identifier>
</cp:coreProperties>
</file>